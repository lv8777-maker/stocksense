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C3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743200"/>
            <a:ext cx="228600" cy="1463040"/>
          </a:xfrm>
          <a:prstGeom prst="rect">
            <a:avLst/>
          </a:prstGeom>
          <a:solidFill>
            <a:srgbClr val="FD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651760"/>
            <a:ext cx="10058400" cy="914400"/>
          </a:xfrm>
          <a:prstGeom prst="rect">
            <a:avLst/>
          </a:prstGeom>
          <a:noFill/>
        </p:spPr>
        <p:txBody>
          <a:bodyPr wrap="square" lIns="45720" rIns="45720">
            <a:spAutoFit/>
          </a:bodyPr>
          <a:lstStyle/>
          <a:p>
            <a:r>
              <a:rPr sz="5400" b="1">
                <a:solidFill>
                  <a:srgbClr val="FFFFFF"/>
                </a:solidFill>
              </a:rPr>
              <a:t>Maverick Loyalty</a:t>
            </a:r>
          </a:p>
        </p:txBody>
      </p:sp>
      <p:sp>
        <p:nvSpPr>
          <p:cNvPr id="5" name="TextBox 4"/>
          <p:cNvSpPr txBox="1"/>
          <p:nvPr/>
        </p:nvSpPr>
        <p:spPr>
          <a:xfrm>
            <a:off x="914400" y="3566160"/>
            <a:ext cx="10058400" cy="640080"/>
          </a:xfrm>
          <a:prstGeom prst="rect">
            <a:avLst/>
          </a:prstGeom>
          <a:noFill/>
        </p:spPr>
        <p:txBody>
          <a:bodyPr wrap="square" lIns="45720" rIns="45720">
            <a:spAutoFit/>
          </a:bodyPr>
          <a:lstStyle/>
          <a:p>
            <a:r>
              <a:rPr sz="3200" b="1">
                <a:solidFill>
                  <a:srgbClr val="FDC800"/>
                </a:solidFill>
              </a:rPr>
              <a:t>Launch Checklist</a:t>
            </a:r>
          </a:p>
        </p:txBody>
      </p:sp>
      <p:sp>
        <p:nvSpPr>
          <p:cNvPr id="6" name="TextBox 5"/>
          <p:cNvSpPr txBox="1"/>
          <p:nvPr/>
        </p:nvSpPr>
        <p:spPr>
          <a:xfrm>
            <a:off x="914400" y="4297680"/>
            <a:ext cx="10058400" cy="457200"/>
          </a:xfrm>
          <a:prstGeom prst="rect">
            <a:avLst/>
          </a:prstGeom>
          <a:noFill/>
        </p:spPr>
        <p:txBody>
          <a:bodyPr wrap="square" lIns="45720" rIns="45720">
            <a:spAutoFit/>
          </a:bodyPr>
          <a:lstStyle/>
          <a:p>
            <a:r>
              <a:rPr sz="1800" b="0">
                <a:solidFill>
                  <a:srgbClr val="A7A9AC"/>
                </a:solidFill>
              </a:rPr>
              <a:t>What's left to take CustomerConnect from dev build to live product</a:t>
            </a:r>
          </a:p>
        </p:txBody>
      </p:sp>
      <p:sp>
        <p:nvSpPr>
          <p:cNvPr id="7" name="TextBox 6"/>
          <p:cNvSpPr txBox="1"/>
          <p:nvPr/>
        </p:nvSpPr>
        <p:spPr>
          <a:xfrm>
            <a:off x="548640" y="6400800"/>
            <a:ext cx="10972800" cy="274320"/>
          </a:xfrm>
          <a:prstGeom prst="rect">
            <a:avLst/>
          </a:prstGeom>
          <a:noFill/>
        </p:spPr>
        <p:txBody>
          <a:bodyPr wrap="square" lIns="45720" rIns="45720">
            <a:spAutoFit/>
          </a:bodyPr>
          <a:lstStyle/>
          <a:p>
            <a:r>
              <a:rPr sz="1100" b="0">
                <a:solidFill>
                  <a:srgbClr val="A7A9AC"/>
                </a:solidFill>
              </a:rPr>
              <a:t>Prepared for Maverick Telecom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28600"/>
          </a:xfrm>
          <a:prstGeom prst="rect">
            <a:avLst/>
          </a:prstGeom>
          <a:solidFill>
            <a:srgbClr val="FD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57200"/>
            <a:ext cx="10972800" cy="640080"/>
          </a:xfrm>
          <a:prstGeom prst="rect">
            <a:avLst/>
          </a:prstGeom>
          <a:noFill/>
        </p:spPr>
        <p:txBody>
          <a:bodyPr wrap="square" lIns="45720" rIns="45720">
            <a:spAutoFit/>
          </a:bodyPr>
          <a:lstStyle/>
          <a:p>
            <a:r>
              <a:rPr sz="3200" b="1">
                <a:solidFill>
                  <a:srgbClr val="3C3C3B"/>
                </a:solidFill>
              </a:rPr>
              <a:t>Where we are today</a:t>
            </a:r>
          </a:p>
        </p:txBody>
      </p:sp>
      <p:sp>
        <p:nvSpPr>
          <p:cNvPr id="5" name="TextBox 4"/>
          <p:cNvSpPr txBox="1"/>
          <p:nvPr/>
        </p:nvSpPr>
        <p:spPr>
          <a:xfrm>
            <a:off x="548640" y="1371600"/>
            <a:ext cx="5486400" cy="457200"/>
          </a:xfrm>
          <a:prstGeom prst="rect">
            <a:avLst/>
          </a:prstGeom>
          <a:noFill/>
        </p:spPr>
        <p:txBody>
          <a:bodyPr wrap="square" lIns="45720" rIns="45720">
            <a:spAutoFit/>
          </a:bodyPr>
          <a:lstStyle/>
          <a:p>
            <a:r>
              <a:rPr sz="2000" b="1">
                <a:solidFill>
                  <a:srgbClr val="2E7D32"/>
                </a:solidFill>
              </a:rPr>
              <a:t>Done</a:t>
            </a:r>
          </a:p>
        </p:txBody>
      </p:sp>
      <p:sp>
        <p:nvSpPr>
          <p:cNvPr id="6" name="Oval 5"/>
          <p:cNvSpPr/>
          <p:nvPr/>
        </p:nvSpPr>
        <p:spPr>
          <a:xfrm>
            <a:off x="548640" y="1993392"/>
            <a:ext cx="164592" cy="164592"/>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20240"/>
            <a:ext cx="5166360" cy="548640"/>
          </a:xfrm>
          <a:prstGeom prst="rect">
            <a:avLst/>
          </a:prstGeom>
          <a:noFill/>
        </p:spPr>
        <p:txBody>
          <a:bodyPr wrap="square" lIns="45720" rIns="45720">
            <a:spAutoFit/>
          </a:bodyPr>
          <a:lstStyle/>
          <a:p>
            <a:r>
              <a:rPr sz="1400" b="0">
                <a:solidFill>
                  <a:srgbClr val="3C3C3B"/>
                </a:solidFill>
              </a:rPr>
              <a:t>Email + phone sign-up with a single 6-digit verification code</a:t>
            </a:r>
          </a:p>
        </p:txBody>
      </p:sp>
      <p:sp>
        <p:nvSpPr>
          <p:cNvPr id="8" name="Oval 7"/>
          <p:cNvSpPr/>
          <p:nvPr/>
        </p:nvSpPr>
        <p:spPr>
          <a:xfrm>
            <a:off x="548640" y="2496312"/>
            <a:ext cx="164592" cy="164592"/>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423160"/>
            <a:ext cx="5166360" cy="548640"/>
          </a:xfrm>
          <a:prstGeom prst="rect">
            <a:avLst/>
          </a:prstGeom>
          <a:noFill/>
        </p:spPr>
        <p:txBody>
          <a:bodyPr wrap="square" lIns="45720" rIns="45720">
            <a:spAutoFit/>
          </a:bodyPr>
          <a:lstStyle/>
          <a:p>
            <a:r>
              <a:rPr sz="1400" b="0">
                <a:solidFill>
                  <a:srgbClr val="3C3C3B"/>
                </a:solidFill>
              </a:rPr>
              <a:t>4-tier loyalty system (Starter, Explorer, Champion, Elite)</a:t>
            </a:r>
          </a:p>
        </p:txBody>
      </p:sp>
      <p:sp>
        <p:nvSpPr>
          <p:cNvPr id="10" name="Oval 9"/>
          <p:cNvSpPr/>
          <p:nvPr/>
        </p:nvSpPr>
        <p:spPr>
          <a:xfrm>
            <a:off x="548640" y="2999232"/>
            <a:ext cx="164592" cy="164592"/>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926080"/>
            <a:ext cx="5166360" cy="548640"/>
          </a:xfrm>
          <a:prstGeom prst="rect">
            <a:avLst/>
          </a:prstGeom>
          <a:noFill/>
        </p:spPr>
        <p:txBody>
          <a:bodyPr wrap="square" lIns="45720" rIns="45720">
            <a:spAutoFit/>
          </a:bodyPr>
          <a:lstStyle/>
          <a:p>
            <a:r>
              <a:rPr sz="1400" b="0">
                <a:solidFill>
                  <a:srgbClr val="3C3C3B"/>
                </a:solidFill>
              </a:rPr>
              <a:t>Receipt OCR (Tesseract) and MTN tax-invoice processing</a:t>
            </a:r>
          </a:p>
        </p:txBody>
      </p:sp>
      <p:sp>
        <p:nvSpPr>
          <p:cNvPr id="12" name="Oval 11"/>
          <p:cNvSpPr/>
          <p:nvPr/>
        </p:nvSpPr>
        <p:spPr>
          <a:xfrm>
            <a:off x="548640" y="3502152"/>
            <a:ext cx="164592" cy="164592"/>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429000"/>
            <a:ext cx="5166360" cy="548640"/>
          </a:xfrm>
          <a:prstGeom prst="rect">
            <a:avLst/>
          </a:prstGeom>
          <a:noFill/>
        </p:spPr>
        <p:txBody>
          <a:bodyPr wrap="square" lIns="45720" rIns="45720">
            <a:spAutoFit/>
          </a:bodyPr>
          <a:lstStyle/>
          <a:p>
            <a:r>
              <a:rPr sz="1400" b="0">
                <a:solidFill>
                  <a:srgbClr val="3C3C3B"/>
                </a:solidFill>
              </a:rPr>
              <a:t>Admin dashboard with role-based access control</a:t>
            </a:r>
          </a:p>
        </p:txBody>
      </p:sp>
      <p:sp>
        <p:nvSpPr>
          <p:cNvPr id="14" name="Oval 13"/>
          <p:cNvSpPr/>
          <p:nvPr/>
        </p:nvSpPr>
        <p:spPr>
          <a:xfrm>
            <a:off x="548640" y="4005072"/>
            <a:ext cx="164592" cy="164592"/>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931920"/>
            <a:ext cx="5166360" cy="548640"/>
          </a:xfrm>
          <a:prstGeom prst="rect">
            <a:avLst/>
          </a:prstGeom>
          <a:noFill/>
        </p:spPr>
        <p:txBody>
          <a:bodyPr wrap="square" lIns="45720" rIns="45720">
            <a:spAutoFit/>
          </a:bodyPr>
          <a:lstStyle/>
          <a:p>
            <a:r>
              <a:rPr sz="1400" b="0">
                <a:solidFill>
                  <a:srgbClr val="3C3C3B"/>
                </a:solidFill>
              </a:rPr>
              <a:t>Security hardening: bcrypt, rate limits, CSRF, HTTP-only sessions</a:t>
            </a:r>
          </a:p>
        </p:txBody>
      </p:sp>
      <p:sp>
        <p:nvSpPr>
          <p:cNvPr id="16" name="TextBox 15"/>
          <p:cNvSpPr txBox="1"/>
          <p:nvPr/>
        </p:nvSpPr>
        <p:spPr>
          <a:xfrm>
            <a:off x="6309360" y="1371600"/>
            <a:ext cx="5486400" cy="457200"/>
          </a:xfrm>
          <a:prstGeom prst="rect">
            <a:avLst/>
          </a:prstGeom>
          <a:noFill/>
        </p:spPr>
        <p:txBody>
          <a:bodyPr wrap="square" lIns="45720" rIns="45720">
            <a:spAutoFit/>
          </a:bodyPr>
          <a:lstStyle/>
          <a:p>
            <a:r>
              <a:rPr sz="2000" b="1">
                <a:solidFill>
                  <a:srgbClr val="C62828"/>
                </a:solidFill>
              </a:rPr>
              <a:t>Still to do</a:t>
            </a:r>
          </a:p>
        </p:txBody>
      </p:sp>
      <p:sp>
        <p:nvSpPr>
          <p:cNvPr id="17" name="Oval 16"/>
          <p:cNvSpPr/>
          <p:nvPr/>
        </p:nvSpPr>
        <p:spPr>
          <a:xfrm>
            <a:off x="6309360" y="1993392"/>
            <a:ext cx="164592" cy="164592"/>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1920240"/>
            <a:ext cx="5166360" cy="548640"/>
          </a:xfrm>
          <a:prstGeom prst="rect">
            <a:avLst/>
          </a:prstGeom>
          <a:noFill/>
        </p:spPr>
        <p:txBody>
          <a:bodyPr wrap="square" lIns="45720" rIns="45720">
            <a:spAutoFit/>
          </a:bodyPr>
          <a:lstStyle/>
          <a:p>
            <a:r>
              <a:rPr sz="1400" b="0">
                <a:solidFill>
                  <a:srgbClr val="3C3C3B"/>
                </a:solidFill>
              </a:rPr>
              <a:t>Email delivery to real customers (SendGrid)</a:t>
            </a:r>
          </a:p>
        </p:txBody>
      </p:sp>
      <p:sp>
        <p:nvSpPr>
          <p:cNvPr id="19" name="Oval 18"/>
          <p:cNvSpPr/>
          <p:nvPr/>
        </p:nvSpPr>
        <p:spPr>
          <a:xfrm>
            <a:off x="6309360" y="2496312"/>
            <a:ext cx="164592" cy="164592"/>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29400" y="2423160"/>
            <a:ext cx="5166360" cy="548640"/>
          </a:xfrm>
          <a:prstGeom prst="rect">
            <a:avLst/>
          </a:prstGeom>
          <a:noFill/>
        </p:spPr>
        <p:txBody>
          <a:bodyPr wrap="square" lIns="45720" rIns="45720">
            <a:spAutoFit/>
          </a:bodyPr>
          <a:lstStyle/>
          <a:p>
            <a:r>
              <a:rPr sz="1400" b="0">
                <a:solidFill>
                  <a:srgbClr val="3C3C3B"/>
                </a:solidFill>
              </a:rPr>
              <a:t>Production database migration</a:t>
            </a:r>
          </a:p>
        </p:txBody>
      </p:sp>
      <p:sp>
        <p:nvSpPr>
          <p:cNvPr id="21" name="Oval 20"/>
          <p:cNvSpPr/>
          <p:nvPr/>
        </p:nvSpPr>
        <p:spPr>
          <a:xfrm>
            <a:off x="6309360" y="2999232"/>
            <a:ext cx="164592" cy="164592"/>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400" y="2926080"/>
            <a:ext cx="5166360" cy="548640"/>
          </a:xfrm>
          <a:prstGeom prst="rect">
            <a:avLst/>
          </a:prstGeom>
          <a:noFill/>
        </p:spPr>
        <p:txBody>
          <a:bodyPr wrap="square" lIns="45720" rIns="45720">
            <a:spAutoFit/>
          </a:bodyPr>
          <a:lstStyle/>
          <a:p>
            <a:r>
              <a:rPr sz="1400" b="0">
                <a:solidFill>
                  <a:srgbClr val="3C3C3B"/>
                </a:solidFill>
              </a:rPr>
              <a:t>Account recovery for lost email/phone</a:t>
            </a:r>
          </a:p>
        </p:txBody>
      </p:sp>
      <p:sp>
        <p:nvSpPr>
          <p:cNvPr id="23" name="Oval 22"/>
          <p:cNvSpPr/>
          <p:nvPr/>
        </p:nvSpPr>
        <p:spPr>
          <a:xfrm>
            <a:off x="6309360" y="3502152"/>
            <a:ext cx="164592" cy="164592"/>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29400" y="3429000"/>
            <a:ext cx="5166360" cy="548640"/>
          </a:xfrm>
          <a:prstGeom prst="rect">
            <a:avLst/>
          </a:prstGeom>
          <a:noFill/>
        </p:spPr>
        <p:txBody>
          <a:bodyPr wrap="square" lIns="45720" rIns="45720">
            <a:spAutoFit/>
          </a:bodyPr>
          <a:lstStyle/>
          <a:p>
            <a:r>
              <a:rPr sz="1400" b="0">
                <a:solidFill>
                  <a:srgbClr val="3C3C3B"/>
                </a:solidFill>
              </a:rPr>
              <a:t>Legal pages and branding polish</a:t>
            </a:r>
          </a:p>
        </p:txBody>
      </p:sp>
      <p:sp>
        <p:nvSpPr>
          <p:cNvPr id="25" name="Oval 24"/>
          <p:cNvSpPr/>
          <p:nvPr/>
        </p:nvSpPr>
        <p:spPr>
          <a:xfrm>
            <a:off x="6309360" y="4005072"/>
            <a:ext cx="164592" cy="164592"/>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29400" y="3931920"/>
            <a:ext cx="5166360" cy="548640"/>
          </a:xfrm>
          <a:prstGeom prst="rect">
            <a:avLst/>
          </a:prstGeom>
          <a:noFill/>
        </p:spPr>
        <p:txBody>
          <a:bodyPr wrap="square" lIns="45720" rIns="45720">
            <a:spAutoFit/>
          </a:bodyPr>
          <a:lstStyle/>
          <a:p>
            <a:r>
              <a:rPr sz="1400" b="0">
                <a:solidFill>
                  <a:srgbClr val="3C3C3B"/>
                </a:solidFill>
              </a:rPr>
              <a:t>Real-device QA, deploy, and go-live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C3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10972800" cy="731520"/>
          </a:xfrm>
          <a:prstGeom prst="rect">
            <a:avLst/>
          </a:prstGeom>
          <a:noFill/>
        </p:spPr>
        <p:txBody>
          <a:bodyPr wrap="square" lIns="45720" rIns="45720">
            <a:spAutoFit/>
          </a:bodyPr>
          <a:lstStyle/>
          <a:p>
            <a:r>
              <a:rPr sz="3200" b="1">
                <a:solidFill>
                  <a:srgbClr val="FDC800"/>
                </a:solidFill>
              </a:rPr>
              <a:t>The 10 steps to launch</a:t>
            </a:r>
          </a:p>
        </p:txBody>
      </p:sp>
      <p:sp>
        <p:nvSpPr>
          <p:cNvPr id="4" name="TextBox 3"/>
          <p:cNvSpPr txBox="1"/>
          <p:nvPr/>
        </p:nvSpPr>
        <p:spPr>
          <a:xfrm>
            <a:off x="548640" y="1371600"/>
            <a:ext cx="10972800" cy="548640"/>
          </a:xfrm>
          <a:prstGeom prst="rect">
            <a:avLst/>
          </a:prstGeom>
          <a:noFill/>
        </p:spPr>
        <p:txBody>
          <a:bodyPr wrap="square" lIns="45720" rIns="45720">
            <a:spAutoFit/>
          </a:bodyPr>
          <a:lstStyle/>
          <a:p>
            <a:r>
              <a:rPr sz="1600" b="0">
                <a:solidFill>
                  <a:srgbClr val="A7A9AC"/>
                </a:solidFill>
              </a:rPr>
              <a:t>One slide per step. Each step says what it is, why it matters, and what 'done' looks like.</a:t>
            </a:r>
          </a:p>
        </p:txBody>
      </p:sp>
      <p:sp>
        <p:nvSpPr>
          <p:cNvPr id="5" name="Rounded Rectangle 4"/>
          <p:cNvSpPr/>
          <p:nvPr/>
        </p:nvSpPr>
        <p:spPr>
          <a:xfrm>
            <a:off x="548640" y="2286000"/>
            <a:ext cx="2194560" cy="914400"/>
          </a:xfrm>
          <a:prstGeom prst="roundRect">
            <a:avLst/>
          </a:prstGeom>
          <a:solidFill>
            <a:srgbClr val="FFFFFF"/>
          </a:solidFill>
          <a:ln w="19050">
            <a:solidFill>
              <a:srgbClr val="FDC800"/>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FDC800"/>
                </a:solidFill>
              </a:rPr>
              <a:t>Step 1</a:t>
            </a:r>
          </a:p>
          <a:p>
            <a:r>
              <a:rPr sz="1600" b="1">
                <a:solidFill>
                  <a:srgbClr val="3C3C3B"/>
                </a:solidFill>
              </a:rPr>
              <a:t>Email delivery</a:t>
            </a:r>
          </a:p>
        </p:txBody>
      </p:sp>
      <p:sp>
        <p:nvSpPr>
          <p:cNvPr id="6" name="Rounded Rectangle 5"/>
          <p:cNvSpPr/>
          <p:nvPr/>
        </p:nvSpPr>
        <p:spPr>
          <a:xfrm>
            <a:off x="2834640" y="2286000"/>
            <a:ext cx="2194560" cy="914400"/>
          </a:xfrm>
          <a:prstGeom prst="roundRect">
            <a:avLst/>
          </a:prstGeom>
          <a:solidFill>
            <a:srgbClr val="FFFFFF"/>
          </a:solidFill>
          <a:ln w="19050">
            <a:solidFill>
              <a:srgbClr val="FDC800"/>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FDC800"/>
                </a:solidFill>
              </a:rPr>
              <a:t>Step 2</a:t>
            </a:r>
          </a:p>
          <a:p>
            <a:r>
              <a:rPr sz="1600" b="1">
                <a:solidFill>
                  <a:srgbClr val="3C3C3B"/>
                </a:solidFill>
              </a:rPr>
              <a:t>Production database</a:t>
            </a:r>
          </a:p>
        </p:txBody>
      </p:sp>
      <p:sp>
        <p:nvSpPr>
          <p:cNvPr id="7" name="Rounded Rectangle 6"/>
          <p:cNvSpPr/>
          <p:nvPr/>
        </p:nvSpPr>
        <p:spPr>
          <a:xfrm>
            <a:off x="5120640" y="2286000"/>
            <a:ext cx="2194560" cy="914400"/>
          </a:xfrm>
          <a:prstGeom prst="roundRect">
            <a:avLst/>
          </a:prstGeom>
          <a:solidFill>
            <a:srgbClr val="FFFFFF"/>
          </a:solidFill>
          <a:ln w="19050">
            <a:solidFill>
              <a:srgbClr val="FDC800"/>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FDC800"/>
                </a:solidFill>
              </a:rPr>
              <a:t>Step 3</a:t>
            </a:r>
          </a:p>
          <a:p>
            <a:r>
              <a:rPr sz="1600" b="1">
                <a:solidFill>
                  <a:srgbClr val="3C3C3B"/>
                </a:solidFill>
              </a:rPr>
              <a:t>Account recovery</a:t>
            </a:r>
          </a:p>
        </p:txBody>
      </p:sp>
      <p:sp>
        <p:nvSpPr>
          <p:cNvPr id="8" name="Rounded Rectangle 7"/>
          <p:cNvSpPr/>
          <p:nvPr/>
        </p:nvSpPr>
        <p:spPr>
          <a:xfrm>
            <a:off x="7406640" y="2286000"/>
            <a:ext cx="2194560" cy="914400"/>
          </a:xfrm>
          <a:prstGeom prst="roundRect">
            <a:avLst/>
          </a:prstGeom>
          <a:solidFill>
            <a:srgbClr val="FFFFFF"/>
          </a:solidFill>
          <a:ln w="19050">
            <a:solidFill>
              <a:srgbClr val="FDC800"/>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FDC800"/>
                </a:solidFill>
              </a:rPr>
              <a:t>Step 4</a:t>
            </a:r>
          </a:p>
          <a:p>
            <a:r>
              <a:rPr sz="1600" b="1">
                <a:solidFill>
                  <a:srgbClr val="3C3C3B"/>
                </a:solidFill>
              </a:rPr>
              <a:t>Legal &amp; content</a:t>
            </a:r>
          </a:p>
        </p:txBody>
      </p:sp>
      <p:sp>
        <p:nvSpPr>
          <p:cNvPr id="9" name="Rounded Rectangle 8"/>
          <p:cNvSpPr/>
          <p:nvPr/>
        </p:nvSpPr>
        <p:spPr>
          <a:xfrm>
            <a:off x="9692640" y="2286000"/>
            <a:ext cx="2194560" cy="914400"/>
          </a:xfrm>
          <a:prstGeom prst="roundRect">
            <a:avLst/>
          </a:prstGeom>
          <a:solidFill>
            <a:srgbClr val="FFFFFF"/>
          </a:solidFill>
          <a:ln w="19050">
            <a:solidFill>
              <a:srgbClr val="FDC800"/>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FDC800"/>
                </a:solidFill>
              </a:rPr>
              <a:t>Step 5</a:t>
            </a:r>
          </a:p>
          <a:p>
            <a:r>
              <a:rPr sz="1600" b="1">
                <a:solidFill>
                  <a:srgbClr val="3C3C3B"/>
                </a:solidFill>
              </a:rPr>
              <a:t>Branding polish</a:t>
            </a:r>
          </a:p>
        </p:txBody>
      </p:sp>
      <p:sp>
        <p:nvSpPr>
          <p:cNvPr id="10" name="Rounded Rectangle 9"/>
          <p:cNvSpPr/>
          <p:nvPr/>
        </p:nvSpPr>
        <p:spPr>
          <a:xfrm>
            <a:off x="548640" y="3474720"/>
            <a:ext cx="2194560" cy="914400"/>
          </a:xfrm>
          <a:prstGeom prst="roundRect">
            <a:avLst/>
          </a:prstGeom>
          <a:solidFill>
            <a:srgbClr val="FFFFFF"/>
          </a:solidFill>
          <a:ln w="19050">
            <a:solidFill>
              <a:srgbClr val="FDC800"/>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FDC800"/>
                </a:solidFill>
              </a:rPr>
              <a:t>Step 6</a:t>
            </a:r>
          </a:p>
          <a:p>
            <a:r>
              <a:rPr sz="1600" b="1">
                <a:solidFill>
                  <a:srgbClr val="3C3C3B"/>
                </a:solidFill>
              </a:rPr>
              <a:t>Real-device QA</a:t>
            </a:r>
          </a:p>
        </p:txBody>
      </p:sp>
      <p:sp>
        <p:nvSpPr>
          <p:cNvPr id="11" name="Rounded Rectangle 10"/>
          <p:cNvSpPr/>
          <p:nvPr/>
        </p:nvSpPr>
        <p:spPr>
          <a:xfrm>
            <a:off x="2834640" y="3474720"/>
            <a:ext cx="2194560" cy="914400"/>
          </a:xfrm>
          <a:prstGeom prst="roundRect">
            <a:avLst/>
          </a:prstGeom>
          <a:solidFill>
            <a:srgbClr val="FFFFFF"/>
          </a:solidFill>
          <a:ln w="19050">
            <a:solidFill>
              <a:srgbClr val="FDC800"/>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FDC800"/>
                </a:solidFill>
              </a:rPr>
              <a:t>Step 7</a:t>
            </a:r>
          </a:p>
          <a:p>
            <a:r>
              <a:rPr sz="1600" b="1">
                <a:solidFill>
                  <a:srgbClr val="3C3C3B"/>
                </a:solidFill>
              </a:rPr>
              <a:t>Admin &amp; catalogue</a:t>
            </a:r>
          </a:p>
        </p:txBody>
      </p:sp>
      <p:sp>
        <p:nvSpPr>
          <p:cNvPr id="12" name="Rounded Rectangle 11"/>
          <p:cNvSpPr/>
          <p:nvPr/>
        </p:nvSpPr>
        <p:spPr>
          <a:xfrm>
            <a:off x="5120640" y="3474720"/>
            <a:ext cx="2194560" cy="914400"/>
          </a:xfrm>
          <a:prstGeom prst="roundRect">
            <a:avLst/>
          </a:prstGeom>
          <a:solidFill>
            <a:srgbClr val="FFFFFF"/>
          </a:solidFill>
          <a:ln w="19050">
            <a:solidFill>
              <a:srgbClr val="FDC800"/>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FDC800"/>
                </a:solidFill>
              </a:rPr>
              <a:t>Step 8</a:t>
            </a:r>
          </a:p>
          <a:p>
            <a:r>
              <a:rPr sz="1600" b="1">
                <a:solidFill>
                  <a:srgbClr val="3C3C3B"/>
                </a:solidFill>
              </a:rPr>
              <a:t>Deploy &amp; domain</a:t>
            </a:r>
          </a:p>
        </p:txBody>
      </p:sp>
      <p:sp>
        <p:nvSpPr>
          <p:cNvPr id="13" name="Rounded Rectangle 12"/>
          <p:cNvSpPr/>
          <p:nvPr/>
        </p:nvSpPr>
        <p:spPr>
          <a:xfrm>
            <a:off x="7406640" y="3474720"/>
            <a:ext cx="2194560" cy="914400"/>
          </a:xfrm>
          <a:prstGeom prst="roundRect">
            <a:avLst/>
          </a:prstGeom>
          <a:solidFill>
            <a:srgbClr val="FFFFFF"/>
          </a:solidFill>
          <a:ln w="19050">
            <a:solidFill>
              <a:srgbClr val="FDC800"/>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FDC800"/>
                </a:solidFill>
              </a:rPr>
              <a:t>Step 9</a:t>
            </a:r>
          </a:p>
          <a:p>
            <a:r>
              <a:rPr sz="1600" b="1">
                <a:solidFill>
                  <a:srgbClr val="3C3C3B"/>
                </a:solidFill>
              </a:rPr>
              <a:t>Monitoring &amp; backups</a:t>
            </a:r>
          </a:p>
        </p:txBody>
      </p:sp>
      <p:sp>
        <p:nvSpPr>
          <p:cNvPr id="14" name="Rounded Rectangle 13"/>
          <p:cNvSpPr/>
          <p:nvPr/>
        </p:nvSpPr>
        <p:spPr>
          <a:xfrm>
            <a:off x="9692640" y="3474720"/>
            <a:ext cx="2194560" cy="914400"/>
          </a:xfrm>
          <a:prstGeom prst="roundRect">
            <a:avLst/>
          </a:prstGeom>
          <a:solidFill>
            <a:srgbClr val="FFFFFF"/>
          </a:solidFill>
          <a:ln w="19050">
            <a:solidFill>
              <a:srgbClr val="FDC800"/>
            </a:solidFill>
          </a:ln>
        </p:spPr>
        <p:style>
          <a:lnRef idx="1">
            <a:schemeClr val="accent1"/>
          </a:lnRef>
          <a:fillRef idx="3">
            <a:schemeClr val="accent1"/>
          </a:fillRef>
          <a:effectRef idx="2">
            <a:schemeClr val="accent1"/>
          </a:effectRef>
          <a:fontRef idx="minor">
            <a:schemeClr val="lt1"/>
          </a:fontRef>
        </p:style>
        <p:txBody>
          <a:bodyPr rtlCol="0" anchor="ctr" tIns="91440"/>
          <a:lstStyle/>
          <a:p>
            <a:pPr algn="ctr"/>
            <a:r>
              <a:rPr sz="1100" b="1">
                <a:solidFill>
                  <a:srgbClr val="FDC800"/>
                </a:solidFill>
              </a:rPr>
              <a:t>Step 10</a:t>
            </a:r>
          </a:p>
          <a:p>
            <a:r>
              <a:rPr sz="1600" b="1">
                <a:solidFill>
                  <a:srgbClr val="3C3C3B"/>
                </a:solidFill>
              </a:rPr>
              <a:t>Go-live announcement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0" cy="6858000"/>
          </a:xfrm>
          <a:prstGeom prst="rect">
            <a:avLst/>
          </a:prstGeom>
          <a:solidFill>
            <a:srgbClr val="3C3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548640"/>
            <a:ext cx="1828800" cy="548640"/>
          </a:xfrm>
          <a:prstGeom prst="rect">
            <a:avLst/>
          </a:prstGeom>
          <a:noFill/>
        </p:spPr>
        <p:txBody>
          <a:bodyPr wrap="square" lIns="45720" rIns="45720">
            <a:spAutoFit/>
          </a:bodyPr>
          <a:lstStyle/>
          <a:p>
            <a:r>
              <a:rPr sz="1600" b="1">
                <a:solidFill>
                  <a:srgbClr val="FDC800"/>
                </a:solidFill>
              </a:rPr>
              <a:t>STEP 1</a:t>
            </a:r>
          </a:p>
        </p:txBody>
      </p:sp>
      <p:sp>
        <p:nvSpPr>
          <p:cNvPr id="5" name="TextBox 4"/>
          <p:cNvSpPr txBox="1"/>
          <p:nvPr/>
        </p:nvSpPr>
        <p:spPr>
          <a:xfrm>
            <a:off x="182880" y="1188720"/>
            <a:ext cx="1828800" cy="3657600"/>
          </a:xfrm>
          <a:prstGeom prst="rect">
            <a:avLst/>
          </a:prstGeom>
          <a:noFill/>
        </p:spPr>
        <p:txBody>
          <a:bodyPr wrap="square" lIns="45720" rIns="45720">
            <a:spAutoFit/>
          </a:bodyPr>
          <a:lstStyle/>
          <a:p>
            <a:r>
              <a:rPr sz="1400" b="0">
                <a:solidFill>
                  <a:srgbClr val="A7A9AC"/>
                </a:solidFill>
              </a:rPr>
              <a:t>of 10</a:t>
            </a:r>
          </a:p>
        </p:txBody>
      </p:sp>
      <p:sp>
        <p:nvSpPr>
          <p:cNvPr id="6" name="TextBox 5"/>
          <p:cNvSpPr txBox="1"/>
          <p:nvPr/>
        </p:nvSpPr>
        <p:spPr>
          <a:xfrm>
            <a:off x="2377440" y="457200"/>
            <a:ext cx="9418320" cy="822960"/>
          </a:xfrm>
          <a:prstGeom prst="rect">
            <a:avLst/>
          </a:prstGeom>
          <a:noFill/>
        </p:spPr>
        <p:txBody>
          <a:bodyPr wrap="square" lIns="45720" rIns="45720">
            <a:spAutoFit/>
          </a:bodyPr>
          <a:lstStyle/>
          <a:p>
            <a:r>
              <a:rPr sz="3200" b="1">
                <a:solidFill>
                  <a:srgbClr val="3C3C3B"/>
                </a:solidFill>
              </a:rPr>
              <a:t>Email delivery</a:t>
            </a:r>
          </a:p>
        </p:txBody>
      </p:sp>
      <p:sp>
        <p:nvSpPr>
          <p:cNvPr id="7" name="Rectangle 6"/>
          <p:cNvSpPr/>
          <p:nvPr/>
        </p:nvSpPr>
        <p:spPr>
          <a:xfrm>
            <a:off x="2377440" y="1234440"/>
            <a:ext cx="1097280" cy="73152"/>
          </a:xfrm>
          <a:prstGeom prst="rect">
            <a:avLst/>
          </a:prstGeom>
          <a:solidFill>
            <a:srgbClr val="FD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77440" y="1463040"/>
            <a:ext cx="9418320" cy="365760"/>
          </a:xfrm>
          <a:prstGeom prst="rect">
            <a:avLst/>
          </a:prstGeom>
          <a:noFill/>
        </p:spPr>
        <p:txBody>
          <a:bodyPr wrap="square" lIns="45720" rIns="45720">
            <a:spAutoFit/>
          </a:bodyPr>
          <a:lstStyle/>
          <a:p>
            <a:r>
              <a:rPr sz="1200" b="1">
                <a:solidFill>
                  <a:srgbClr val="FDC800"/>
                </a:solidFill>
              </a:rPr>
              <a:t>WHAT</a:t>
            </a:r>
          </a:p>
        </p:txBody>
      </p:sp>
      <p:sp>
        <p:nvSpPr>
          <p:cNvPr id="9" name="TextBox 8"/>
          <p:cNvSpPr txBox="1"/>
          <p:nvPr/>
        </p:nvSpPr>
        <p:spPr>
          <a:xfrm>
            <a:off x="2377440" y="1828800"/>
            <a:ext cx="9418320" cy="1463040"/>
          </a:xfrm>
          <a:prstGeom prst="rect">
            <a:avLst/>
          </a:prstGeom>
          <a:noFill/>
        </p:spPr>
        <p:txBody>
          <a:bodyPr wrap="square" lIns="45720" rIns="45720">
            <a:spAutoFit/>
          </a:bodyPr>
          <a:lstStyle/>
          <a:p>
            <a:r>
              <a:rPr sz="1500" b="0">
                <a:solidFill>
                  <a:srgbClr val="3C3C3B"/>
                </a:solidFill>
              </a:rPr>
              <a:t>Connect SendGrid (or another email provider) so verification codes land in real inboxes, not just the server log. Replace the plain text email with a branded HTML template in Maverick colours. Send a one-time welcome email after a customer verifies.</a:t>
            </a:r>
          </a:p>
        </p:txBody>
      </p:sp>
      <p:sp>
        <p:nvSpPr>
          <p:cNvPr id="10" name="TextBox 9"/>
          <p:cNvSpPr txBox="1"/>
          <p:nvPr/>
        </p:nvSpPr>
        <p:spPr>
          <a:xfrm>
            <a:off x="2377440" y="3291840"/>
            <a:ext cx="9418320" cy="365760"/>
          </a:xfrm>
          <a:prstGeom prst="rect">
            <a:avLst/>
          </a:prstGeom>
          <a:noFill/>
        </p:spPr>
        <p:txBody>
          <a:bodyPr wrap="square" lIns="45720" rIns="45720">
            <a:spAutoFit/>
          </a:bodyPr>
          <a:lstStyle/>
          <a:p>
            <a:r>
              <a:rPr sz="1200" b="1">
                <a:solidFill>
                  <a:srgbClr val="FDC800"/>
                </a:solidFill>
              </a:rPr>
              <a:t>WHY IT MATTERS</a:t>
            </a:r>
          </a:p>
        </p:txBody>
      </p:sp>
      <p:sp>
        <p:nvSpPr>
          <p:cNvPr id="11" name="TextBox 10"/>
          <p:cNvSpPr txBox="1"/>
          <p:nvPr/>
        </p:nvSpPr>
        <p:spPr>
          <a:xfrm>
            <a:off x="2377440" y="3657600"/>
            <a:ext cx="9418320" cy="1280160"/>
          </a:xfrm>
          <a:prstGeom prst="rect">
            <a:avLst/>
          </a:prstGeom>
          <a:noFill/>
        </p:spPr>
        <p:txBody>
          <a:bodyPr wrap="square" lIns="45720" rIns="45720">
            <a:spAutoFit/>
          </a:bodyPr>
          <a:lstStyle/>
          <a:p>
            <a:r>
              <a:rPr sz="1500" b="0">
                <a:solidFill>
                  <a:srgbClr val="3C3C3B"/>
                </a:solidFill>
              </a:rPr>
              <a:t>Right now the verification code only prints to the dev console — no real customer can sign up. Email is the front door to the whole product.</a:t>
            </a:r>
          </a:p>
        </p:txBody>
      </p:sp>
      <p:sp>
        <p:nvSpPr>
          <p:cNvPr id="12" name="TextBox 11"/>
          <p:cNvSpPr txBox="1"/>
          <p:nvPr/>
        </p:nvSpPr>
        <p:spPr>
          <a:xfrm>
            <a:off x="2377440" y="5029200"/>
            <a:ext cx="9418320" cy="365760"/>
          </a:xfrm>
          <a:prstGeom prst="rect">
            <a:avLst/>
          </a:prstGeom>
          <a:noFill/>
        </p:spPr>
        <p:txBody>
          <a:bodyPr wrap="square" lIns="45720" rIns="45720">
            <a:spAutoFit/>
          </a:bodyPr>
          <a:lstStyle/>
          <a:p>
            <a:r>
              <a:rPr sz="1200" b="1">
                <a:solidFill>
                  <a:srgbClr val="FDC800"/>
                </a:solidFill>
              </a:rPr>
              <a:t>DONE LOOKS LIKE</a:t>
            </a:r>
          </a:p>
        </p:txBody>
      </p:sp>
      <p:sp>
        <p:nvSpPr>
          <p:cNvPr id="13" name="TextBox 12"/>
          <p:cNvSpPr txBox="1"/>
          <p:nvPr/>
        </p:nvSpPr>
        <p:spPr>
          <a:xfrm>
            <a:off x="2377440" y="5394960"/>
            <a:ext cx="9418320" cy="1280160"/>
          </a:xfrm>
          <a:prstGeom prst="rect">
            <a:avLst/>
          </a:prstGeom>
          <a:noFill/>
        </p:spPr>
        <p:txBody>
          <a:bodyPr wrap="square" lIns="45720" rIns="45720">
            <a:spAutoFit/>
          </a:bodyPr>
          <a:lstStyle/>
          <a:p>
            <a:r>
              <a:rPr sz="1500" b="0">
                <a:solidFill>
                  <a:srgbClr val="3C3C3B"/>
                </a:solidFill>
              </a:rPr>
              <a:t>A new customer receives a branded email within seconds, enters the code, and is logged in. A welcome email follows.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0" cy="6858000"/>
          </a:xfrm>
          <a:prstGeom prst="rect">
            <a:avLst/>
          </a:prstGeom>
          <a:solidFill>
            <a:srgbClr val="3C3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548640"/>
            <a:ext cx="1828800" cy="548640"/>
          </a:xfrm>
          <a:prstGeom prst="rect">
            <a:avLst/>
          </a:prstGeom>
          <a:noFill/>
        </p:spPr>
        <p:txBody>
          <a:bodyPr wrap="square" lIns="45720" rIns="45720">
            <a:spAutoFit/>
          </a:bodyPr>
          <a:lstStyle/>
          <a:p>
            <a:r>
              <a:rPr sz="1600" b="1">
                <a:solidFill>
                  <a:srgbClr val="FDC800"/>
                </a:solidFill>
              </a:rPr>
              <a:t>STEP 2</a:t>
            </a:r>
          </a:p>
        </p:txBody>
      </p:sp>
      <p:sp>
        <p:nvSpPr>
          <p:cNvPr id="5" name="TextBox 4"/>
          <p:cNvSpPr txBox="1"/>
          <p:nvPr/>
        </p:nvSpPr>
        <p:spPr>
          <a:xfrm>
            <a:off x="182880" y="1188720"/>
            <a:ext cx="1828800" cy="3657600"/>
          </a:xfrm>
          <a:prstGeom prst="rect">
            <a:avLst/>
          </a:prstGeom>
          <a:noFill/>
        </p:spPr>
        <p:txBody>
          <a:bodyPr wrap="square" lIns="45720" rIns="45720">
            <a:spAutoFit/>
          </a:bodyPr>
          <a:lstStyle/>
          <a:p>
            <a:r>
              <a:rPr sz="1400" b="0">
                <a:solidFill>
                  <a:srgbClr val="A7A9AC"/>
                </a:solidFill>
              </a:rPr>
              <a:t>of 10</a:t>
            </a:r>
          </a:p>
        </p:txBody>
      </p:sp>
      <p:sp>
        <p:nvSpPr>
          <p:cNvPr id="6" name="TextBox 5"/>
          <p:cNvSpPr txBox="1"/>
          <p:nvPr/>
        </p:nvSpPr>
        <p:spPr>
          <a:xfrm>
            <a:off x="2377440" y="457200"/>
            <a:ext cx="9418320" cy="822960"/>
          </a:xfrm>
          <a:prstGeom prst="rect">
            <a:avLst/>
          </a:prstGeom>
          <a:noFill/>
        </p:spPr>
        <p:txBody>
          <a:bodyPr wrap="square" lIns="45720" rIns="45720">
            <a:spAutoFit/>
          </a:bodyPr>
          <a:lstStyle/>
          <a:p>
            <a:r>
              <a:rPr sz="3200" b="1">
                <a:solidFill>
                  <a:srgbClr val="3C3C3B"/>
                </a:solidFill>
              </a:rPr>
              <a:t>Production database</a:t>
            </a:r>
          </a:p>
        </p:txBody>
      </p:sp>
      <p:sp>
        <p:nvSpPr>
          <p:cNvPr id="7" name="Rectangle 6"/>
          <p:cNvSpPr/>
          <p:nvPr/>
        </p:nvSpPr>
        <p:spPr>
          <a:xfrm>
            <a:off x="2377440" y="1234440"/>
            <a:ext cx="1097280" cy="73152"/>
          </a:xfrm>
          <a:prstGeom prst="rect">
            <a:avLst/>
          </a:prstGeom>
          <a:solidFill>
            <a:srgbClr val="FD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77440" y="1463040"/>
            <a:ext cx="9418320" cy="365760"/>
          </a:xfrm>
          <a:prstGeom prst="rect">
            <a:avLst/>
          </a:prstGeom>
          <a:noFill/>
        </p:spPr>
        <p:txBody>
          <a:bodyPr wrap="square" lIns="45720" rIns="45720">
            <a:spAutoFit/>
          </a:bodyPr>
          <a:lstStyle/>
          <a:p>
            <a:r>
              <a:rPr sz="1200" b="1">
                <a:solidFill>
                  <a:srgbClr val="FDC800"/>
                </a:solidFill>
              </a:rPr>
              <a:t>WHAT</a:t>
            </a:r>
          </a:p>
        </p:txBody>
      </p:sp>
      <p:sp>
        <p:nvSpPr>
          <p:cNvPr id="9" name="TextBox 8"/>
          <p:cNvSpPr txBox="1"/>
          <p:nvPr/>
        </p:nvSpPr>
        <p:spPr>
          <a:xfrm>
            <a:off x="2377440" y="1828800"/>
            <a:ext cx="9418320" cy="1463040"/>
          </a:xfrm>
          <a:prstGeom prst="rect">
            <a:avLst/>
          </a:prstGeom>
          <a:noFill/>
        </p:spPr>
        <p:txBody>
          <a:bodyPr wrap="square" lIns="45720" rIns="45720">
            <a:spAutoFit/>
          </a:bodyPr>
          <a:lstStyle/>
          <a:p>
            <a:r>
              <a:rPr sz="1500" b="0">
                <a:solidFill>
                  <a:srgbClr val="3C3C3B"/>
                </a:solidFill>
              </a:rPr>
              <a:t>Apply the new schema (is_verified, email_verifications, unique index on transactions) to the production database before the first deploy. Decide what to do with users already in the dev database — typically mark them all as verified so nobody is locked out.</a:t>
            </a:r>
          </a:p>
        </p:txBody>
      </p:sp>
      <p:sp>
        <p:nvSpPr>
          <p:cNvPr id="10" name="TextBox 9"/>
          <p:cNvSpPr txBox="1"/>
          <p:nvPr/>
        </p:nvSpPr>
        <p:spPr>
          <a:xfrm>
            <a:off x="2377440" y="3291840"/>
            <a:ext cx="9418320" cy="365760"/>
          </a:xfrm>
          <a:prstGeom prst="rect">
            <a:avLst/>
          </a:prstGeom>
          <a:noFill/>
        </p:spPr>
        <p:txBody>
          <a:bodyPr wrap="square" lIns="45720" rIns="45720">
            <a:spAutoFit/>
          </a:bodyPr>
          <a:lstStyle/>
          <a:p>
            <a:r>
              <a:rPr sz="1200" b="1">
                <a:solidFill>
                  <a:srgbClr val="FDC800"/>
                </a:solidFill>
              </a:rPr>
              <a:t>WHY IT MATTERS</a:t>
            </a:r>
          </a:p>
        </p:txBody>
      </p:sp>
      <p:sp>
        <p:nvSpPr>
          <p:cNvPr id="11" name="TextBox 10"/>
          <p:cNvSpPr txBox="1"/>
          <p:nvPr/>
        </p:nvSpPr>
        <p:spPr>
          <a:xfrm>
            <a:off x="2377440" y="3657600"/>
            <a:ext cx="9418320" cy="1280160"/>
          </a:xfrm>
          <a:prstGeom prst="rect">
            <a:avLst/>
          </a:prstGeom>
          <a:noFill/>
        </p:spPr>
        <p:txBody>
          <a:bodyPr wrap="square" lIns="45720" rIns="45720">
            <a:spAutoFit/>
          </a:bodyPr>
          <a:lstStyle/>
          <a:p>
            <a:r>
              <a:rPr sz="1500" b="0">
                <a:solidFill>
                  <a:srgbClr val="3C3C3B"/>
                </a:solidFill>
              </a:rPr>
              <a:t>Without the migration the live app will crash on sign-up. Without the backfill, existing testers get stuck at the verification screen.</a:t>
            </a:r>
          </a:p>
        </p:txBody>
      </p:sp>
      <p:sp>
        <p:nvSpPr>
          <p:cNvPr id="12" name="TextBox 11"/>
          <p:cNvSpPr txBox="1"/>
          <p:nvPr/>
        </p:nvSpPr>
        <p:spPr>
          <a:xfrm>
            <a:off x="2377440" y="5029200"/>
            <a:ext cx="9418320" cy="365760"/>
          </a:xfrm>
          <a:prstGeom prst="rect">
            <a:avLst/>
          </a:prstGeom>
          <a:noFill/>
        </p:spPr>
        <p:txBody>
          <a:bodyPr wrap="square" lIns="45720" rIns="45720">
            <a:spAutoFit/>
          </a:bodyPr>
          <a:lstStyle/>
          <a:p>
            <a:r>
              <a:rPr sz="1200" b="1">
                <a:solidFill>
                  <a:srgbClr val="FDC800"/>
                </a:solidFill>
              </a:rPr>
              <a:t>DONE LOOKS LIKE</a:t>
            </a:r>
          </a:p>
        </p:txBody>
      </p:sp>
      <p:sp>
        <p:nvSpPr>
          <p:cNvPr id="13" name="TextBox 12"/>
          <p:cNvSpPr txBox="1"/>
          <p:nvPr/>
        </p:nvSpPr>
        <p:spPr>
          <a:xfrm>
            <a:off x="2377440" y="5394960"/>
            <a:ext cx="9418320" cy="1280160"/>
          </a:xfrm>
          <a:prstGeom prst="rect">
            <a:avLst/>
          </a:prstGeom>
          <a:noFill/>
        </p:spPr>
        <p:txBody>
          <a:bodyPr wrap="square" lIns="45720" rIns="45720">
            <a:spAutoFit/>
          </a:bodyPr>
          <a:lstStyle/>
          <a:p>
            <a:r>
              <a:rPr sz="1500" b="0">
                <a:solidFill>
                  <a:srgbClr val="3C3C3B"/>
                </a:solidFill>
              </a:rPr>
              <a:t>Production schema matches dev. Existing users can still log in. No 'column does not exist' errors in the logs.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0" cy="6858000"/>
          </a:xfrm>
          <a:prstGeom prst="rect">
            <a:avLst/>
          </a:prstGeom>
          <a:solidFill>
            <a:srgbClr val="3C3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548640"/>
            <a:ext cx="1828800" cy="548640"/>
          </a:xfrm>
          <a:prstGeom prst="rect">
            <a:avLst/>
          </a:prstGeom>
          <a:noFill/>
        </p:spPr>
        <p:txBody>
          <a:bodyPr wrap="square" lIns="45720" rIns="45720">
            <a:spAutoFit/>
          </a:bodyPr>
          <a:lstStyle/>
          <a:p>
            <a:r>
              <a:rPr sz="1600" b="1">
                <a:solidFill>
                  <a:srgbClr val="FDC800"/>
                </a:solidFill>
              </a:rPr>
              <a:t>STEP 3</a:t>
            </a:r>
          </a:p>
        </p:txBody>
      </p:sp>
      <p:sp>
        <p:nvSpPr>
          <p:cNvPr id="5" name="TextBox 4"/>
          <p:cNvSpPr txBox="1"/>
          <p:nvPr/>
        </p:nvSpPr>
        <p:spPr>
          <a:xfrm>
            <a:off x="182880" y="1188720"/>
            <a:ext cx="1828800" cy="3657600"/>
          </a:xfrm>
          <a:prstGeom prst="rect">
            <a:avLst/>
          </a:prstGeom>
          <a:noFill/>
        </p:spPr>
        <p:txBody>
          <a:bodyPr wrap="square" lIns="45720" rIns="45720">
            <a:spAutoFit/>
          </a:bodyPr>
          <a:lstStyle/>
          <a:p>
            <a:r>
              <a:rPr sz="1400" b="0">
                <a:solidFill>
                  <a:srgbClr val="A7A9AC"/>
                </a:solidFill>
              </a:rPr>
              <a:t>of 10</a:t>
            </a:r>
          </a:p>
        </p:txBody>
      </p:sp>
      <p:sp>
        <p:nvSpPr>
          <p:cNvPr id="6" name="TextBox 5"/>
          <p:cNvSpPr txBox="1"/>
          <p:nvPr/>
        </p:nvSpPr>
        <p:spPr>
          <a:xfrm>
            <a:off x="2377440" y="457200"/>
            <a:ext cx="9418320" cy="822960"/>
          </a:xfrm>
          <a:prstGeom prst="rect">
            <a:avLst/>
          </a:prstGeom>
          <a:noFill/>
        </p:spPr>
        <p:txBody>
          <a:bodyPr wrap="square" lIns="45720" rIns="45720">
            <a:spAutoFit/>
          </a:bodyPr>
          <a:lstStyle/>
          <a:p>
            <a:r>
              <a:rPr sz="3200" b="1">
                <a:solidFill>
                  <a:srgbClr val="3C3C3B"/>
                </a:solidFill>
              </a:rPr>
              <a:t>Account recovery</a:t>
            </a:r>
          </a:p>
        </p:txBody>
      </p:sp>
      <p:sp>
        <p:nvSpPr>
          <p:cNvPr id="7" name="Rectangle 6"/>
          <p:cNvSpPr/>
          <p:nvPr/>
        </p:nvSpPr>
        <p:spPr>
          <a:xfrm>
            <a:off x="2377440" y="1234440"/>
            <a:ext cx="1097280" cy="73152"/>
          </a:xfrm>
          <a:prstGeom prst="rect">
            <a:avLst/>
          </a:prstGeom>
          <a:solidFill>
            <a:srgbClr val="FD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77440" y="1463040"/>
            <a:ext cx="9418320" cy="365760"/>
          </a:xfrm>
          <a:prstGeom prst="rect">
            <a:avLst/>
          </a:prstGeom>
          <a:noFill/>
        </p:spPr>
        <p:txBody>
          <a:bodyPr wrap="square" lIns="45720" rIns="45720">
            <a:spAutoFit/>
          </a:bodyPr>
          <a:lstStyle/>
          <a:p>
            <a:r>
              <a:rPr sz="1200" b="1">
                <a:solidFill>
                  <a:srgbClr val="FDC800"/>
                </a:solidFill>
              </a:rPr>
              <a:t>WHAT</a:t>
            </a:r>
          </a:p>
        </p:txBody>
      </p:sp>
      <p:sp>
        <p:nvSpPr>
          <p:cNvPr id="9" name="TextBox 8"/>
          <p:cNvSpPr txBox="1"/>
          <p:nvPr/>
        </p:nvSpPr>
        <p:spPr>
          <a:xfrm>
            <a:off x="2377440" y="1828800"/>
            <a:ext cx="9418320" cy="1463040"/>
          </a:xfrm>
          <a:prstGeom prst="rect">
            <a:avLst/>
          </a:prstGeom>
          <a:noFill/>
        </p:spPr>
        <p:txBody>
          <a:bodyPr wrap="square" lIns="45720" rIns="45720">
            <a:spAutoFit/>
          </a:bodyPr>
          <a:lstStyle/>
          <a:p>
            <a:r>
              <a:rPr sz="1500" b="0">
                <a:solidFill>
                  <a:srgbClr val="3C3C3B"/>
                </a:solidFill>
              </a:rPr>
              <a:t>Decide and build what happens when a customer loses access to their email or phone. Minimum: an admin can reset a user's email or phone from the admin dashboard, and the change is written to the audit log.</a:t>
            </a:r>
          </a:p>
        </p:txBody>
      </p:sp>
      <p:sp>
        <p:nvSpPr>
          <p:cNvPr id="10" name="TextBox 9"/>
          <p:cNvSpPr txBox="1"/>
          <p:nvPr/>
        </p:nvSpPr>
        <p:spPr>
          <a:xfrm>
            <a:off x="2377440" y="3291840"/>
            <a:ext cx="9418320" cy="365760"/>
          </a:xfrm>
          <a:prstGeom prst="rect">
            <a:avLst/>
          </a:prstGeom>
          <a:noFill/>
        </p:spPr>
        <p:txBody>
          <a:bodyPr wrap="square" lIns="45720" rIns="45720">
            <a:spAutoFit/>
          </a:bodyPr>
          <a:lstStyle/>
          <a:p>
            <a:r>
              <a:rPr sz="1200" b="1">
                <a:solidFill>
                  <a:srgbClr val="FDC800"/>
                </a:solidFill>
              </a:rPr>
              <a:t>WHY IT MATTERS</a:t>
            </a:r>
          </a:p>
        </p:txBody>
      </p:sp>
      <p:sp>
        <p:nvSpPr>
          <p:cNvPr id="11" name="TextBox 10"/>
          <p:cNvSpPr txBox="1"/>
          <p:nvPr/>
        </p:nvSpPr>
        <p:spPr>
          <a:xfrm>
            <a:off x="2377440" y="3657600"/>
            <a:ext cx="9418320" cy="1280160"/>
          </a:xfrm>
          <a:prstGeom prst="rect">
            <a:avLst/>
          </a:prstGeom>
          <a:noFill/>
        </p:spPr>
        <p:txBody>
          <a:bodyPr wrap="square" lIns="45720" rIns="45720">
            <a:spAutoFit/>
          </a:bodyPr>
          <a:lstStyle/>
          <a:p>
            <a:r>
              <a:rPr sz="1500" b="0">
                <a:solidFill>
                  <a:srgbClr val="3C3C3B"/>
                </a:solidFill>
              </a:rPr>
              <a:t>Lost-access tickets are the #1 support cost for any loyalty programme. Having a clear path on day one prevents stuck customers and angry calls.</a:t>
            </a:r>
          </a:p>
        </p:txBody>
      </p:sp>
      <p:sp>
        <p:nvSpPr>
          <p:cNvPr id="12" name="TextBox 11"/>
          <p:cNvSpPr txBox="1"/>
          <p:nvPr/>
        </p:nvSpPr>
        <p:spPr>
          <a:xfrm>
            <a:off x="2377440" y="5029200"/>
            <a:ext cx="9418320" cy="365760"/>
          </a:xfrm>
          <a:prstGeom prst="rect">
            <a:avLst/>
          </a:prstGeom>
          <a:noFill/>
        </p:spPr>
        <p:txBody>
          <a:bodyPr wrap="square" lIns="45720" rIns="45720">
            <a:spAutoFit/>
          </a:bodyPr>
          <a:lstStyle/>
          <a:p>
            <a:r>
              <a:rPr sz="1200" b="1">
                <a:solidFill>
                  <a:srgbClr val="FDC800"/>
                </a:solidFill>
              </a:rPr>
              <a:t>DONE LOOKS LIKE</a:t>
            </a:r>
          </a:p>
        </p:txBody>
      </p:sp>
      <p:sp>
        <p:nvSpPr>
          <p:cNvPr id="13" name="TextBox 12"/>
          <p:cNvSpPr txBox="1"/>
          <p:nvPr/>
        </p:nvSpPr>
        <p:spPr>
          <a:xfrm>
            <a:off x="2377440" y="5394960"/>
            <a:ext cx="9418320" cy="1280160"/>
          </a:xfrm>
          <a:prstGeom prst="rect">
            <a:avLst/>
          </a:prstGeom>
          <a:noFill/>
        </p:spPr>
        <p:txBody>
          <a:bodyPr wrap="square" lIns="45720" rIns="45720">
            <a:spAutoFit/>
          </a:bodyPr>
          <a:lstStyle/>
          <a:p>
            <a:r>
              <a:rPr sz="1500" b="0">
                <a:solidFill>
                  <a:srgbClr val="3C3C3B"/>
                </a:solidFill>
              </a:rPr>
              <a:t>Support can change a verified contact in under a minute. The change is logged and reversible.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0" cy="6858000"/>
          </a:xfrm>
          <a:prstGeom prst="rect">
            <a:avLst/>
          </a:prstGeom>
          <a:solidFill>
            <a:srgbClr val="3C3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548640"/>
            <a:ext cx="1828800" cy="548640"/>
          </a:xfrm>
          <a:prstGeom prst="rect">
            <a:avLst/>
          </a:prstGeom>
          <a:noFill/>
        </p:spPr>
        <p:txBody>
          <a:bodyPr wrap="square" lIns="45720" rIns="45720">
            <a:spAutoFit/>
          </a:bodyPr>
          <a:lstStyle/>
          <a:p>
            <a:r>
              <a:rPr sz="1600" b="1">
                <a:solidFill>
                  <a:srgbClr val="FDC800"/>
                </a:solidFill>
              </a:rPr>
              <a:t>STEP 4</a:t>
            </a:r>
          </a:p>
        </p:txBody>
      </p:sp>
      <p:sp>
        <p:nvSpPr>
          <p:cNvPr id="5" name="TextBox 4"/>
          <p:cNvSpPr txBox="1"/>
          <p:nvPr/>
        </p:nvSpPr>
        <p:spPr>
          <a:xfrm>
            <a:off x="182880" y="1188720"/>
            <a:ext cx="1828800" cy="3657600"/>
          </a:xfrm>
          <a:prstGeom prst="rect">
            <a:avLst/>
          </a:prstGeom>
          <a:noFill/>
        </p:spPr>
        <p:txBody>
          <a:bodyPr wrap="square" lIns="45720" rIns="45720">
            <a:spAutoFit/>
          </a:bodyPr>
          <a:lstStyle/>
          <a:p>
            <a:r>
              <a:rPr sz="1400" b="0">
                <a:solidFill>
                  <a:srgbClr val="A7A9AC"/>
                </a:solidFill>
              </a:rPr>
              <a:t>of 10</a:t>
            </a:r>
          </a:p>
        </p:txBody>
      </p:sp>
      <p:sp>
        <p:nvSpPr>
          <p:cNvPr id="6" name="TextBox 5"/>
          <p:cNvSpPr txBox="1"/>
          <p:nvPr/>
        </p:nvSpPr>
        <p:spPr>
          <a:xfrm>
            <a:off x="2377440" y="457200"/>
            <a:ext cx="9418320" cy="822960"/>
          </a:xfrm>
          <a:prstGeom prst="rect">
            <a:avLst/>
          </a:prstGeom>
          <a:noFill/>
        </p:spPr>
        <p:txBody>
          <a:bodyPr wrap="square" lIns="45720" rIns="45720">
            <a:spAutoFit/>
          </a:bodyPr>
          <a:lstStyle/>
          <a:p>
            <a:r>
              <a:rPr sz="3200" b="1">
                <a:solidFill>
                  <a:srgbClr val="3C3C3B"/>
                </a:solidFill>
              </a:rPr>
              <a:t>Legal &amp; content pages</a:t>
            </a:r>
          </a:p>
        </p:txBody>
      </p:sp>
      <p:sp>
        <p:nvSpPr>
          <p:cNvPr id="7" name="Rectangle 6"/>
          <p:cNvSpPr/>
          <p:nvPr/>
        </p:nvSpPr>
        <p:spPr>
          <a:xfrm>
            <a:off x="2377440" y="1234440"/>
            <a:ext cx="1097280" cy="73152"/>
          </a:xfrm>
          <a:prstGeom prst="rect">
            <a:avLst/>
          </a:prstGeom>
          <a:solidFill>
            <a:srgbClr val="FD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77440" y="1463040"/>
            <a:ext cx="9418320" cy="365760"/>
          </a:xfrm>
          <a:prstGeom prst="rect">
            <a:avLst/>
          </a:prstGeom>
          <a:noFill/>
        </p:spPr>
        <p:txBody>
          <a:bodyPr wrap="square" lIns="45720" rIns="45720">
            <a:spAutoFit/>
          </a:bodyPr>
          <a:lstStyle/>
          <a:p>
            <a:r>
              <a:rPr sz="1200" b="1">
                <a:solidFill>
                  <a:srgbClr val="FDC800"/>
                </a:solidFill>
              </a:rPr>
              <a:t>WHAT</a:t>
            </a:r>
          </a:p>
        </p:txBody>
      </p:sp>
      <p:sp>
        <p:nvSpPr>
          <p:cNvPr id="9" name="TextBox 8"/>
          <p:cNvSpPr txBox="1"/>
          <p:nvPr/>
        </p:nvSpPr>
        <p:spPr>
          <a:xfrm>
            <a:off x="2377440" y="1828800"/>
            <a:ext cx="9418320" cy="1463040"/>
          </a:xfrm>
          <a:prstGeom prst="rect">
            <a:avLst/>
          </a:prstGeom>
          <a:noFill/>
        </p:spPr>
        <p:txBody>
          <a:bodyPr wrap="square" lIns="45720" rIns="45720">
            <a:spAutoFit/>
          </a:bodyPr>
          <a:lstStyle/>
          <a:p>
            <a:r>
              <a:rPr sz="1500" b="0">
                <a:solidFill>
                  <a:srgbClr val="3C3C3B"/>
                </a:solidFill>
              </a:rPr>
              <a:t>Add Privacy Policy, Terms of Service, and a basic Help / FAQ page. Link them from the footer and from the 'by signing up you agree to…' line on the registration form. Get the wording reviewed by Maverick legal before publishing.</a:t>
            </a:r>
          </a:p>
        </p:txBody>
      </p:sp>
      <p:sp>
        <p:nvSpPr>
          <p:cNvPr id="10" name="TextBox 9"/>
          <p:cNvSpPr txBox="1"/>
          <p:nvPr/>
        </p:nvSpPr>
        <p:spPr>
          <a:xfrm>
            <a:off x="2377440" y="3291840"/>
            <a:ext cx="9418320" cy="365760"/>
          </a:xfrm>
          <a:prstGeom prst="rect">
            <a:avLst/>
          </a:prstGeom>
          <a:noFill/>
        </p:spPr>
        <p:txBody>
          <a:bodyPr wrap="square" lIns="45720" rIns="45720">
            <a:spAutoFit/>
          </a:bodyPr>
          <a:lstStyle/>
          <a:p>
            <a:r>
              <a:rPr sz="1200" b="1">
                <a:solidFill>
                  <a:srgbClr val="FDC800"/>
                </a:solidFill>
              </a:rPr>
              <a:t>WHY IT MATTERS</a:t>
            </a:r>
          </a:p>
        </p:txBody>
      </p:sp>
      <p:sp>
        <p:nvSpPr>
          <p:cNvPr id="11" name="TextBox 10"/>
          <p:cNvSpPr txBox="1"/>
          <p:nvPr/>
        </p:nvSpPr>
        <p:spPr>
          <a:xfrm>
            <a:off x="2377440" y="3657600"/>
            <a:ext cx="9418320" cy="1280160"/>
          </a:xfrm>
          <a:prstGeom prst="rect">
            <a:avLst/>
          </a:prstGeom>
          <a:noFill/>
        </p:spPr>
        <p:txBody>
          <a:bodyPr wrap="square" lIns="45720" rIns="45720">
            <a:spAutoFit/>
          </a:bodyPr>
          <a:lstStyle/>
          <a:p>
            <a:r>
              <a:rPr sz="1500" b="0">
                <a:solidFill>
                  <a:srgbClr val="3C3C3B"/>
                </a:solidFill>
              </a:rPr>
              <a:t>POPIA (South Africa's privacy law) requires a published privacy policy before you collect personal data. Customers also need to know what they're agreeing to.</a:t>
            </a:r>
          </a:p>
        </p:txBody>
      </p:sp>
      <p:sp>
        <p:nvSpPr>
          <p:cNvPr id="12" name="TextBox 11"/>
          <p:cNvSpPr txBox="1"/>
          <p:nvPr/>
        </p:nvSpPr>
        <p:spPr>
          <a:xfrm>
            <a:off x="2377440" y="5029200"/>
            <a:ext cx="9418320" cy="365760"/>
          </a:xfrm>
          <a:prstGeom prst="rect">
            <a:avLst/>
          </a:prstGeom>
          <a:noFill/>
        </p:spPr>
        <p:txBody>
          <a:bodyPr wrap="square" lIns="45720" rIns="45720">
            <a:spAutoFit/>
          </a:bodyPr>
          <a:lstStyle/>
          <a:p>
            <a:r>
              <a:rPr sz="1200" b="1">
                <a:solidFill>
                  <a:srgbClr val="FDC800"/>
                </a:solidFill>
              </a:rPr>
              <a:t>DONE LOOKS LIKE</a:t>
            </a:r>
          </a:p>
        </p:txBody>
      </p:sp>
      <p:sp>
        <p:nvSpPr>
          <p:cNvPr id="13" name="TextBox 12"/>
          <p:cNvSpPr txBox="1"/>
          <p:nvPr/>
        </p:nvSpPr>
        <p:spPr>
          <a:xfrm>
            <a:off x="2377440" y="5394960"/>
            <a:ext cx="9418320" cy="1280160"/>
          </a:xfrm>
          <a:prstGeom prst="rect">
            <a:avLst/>
          </a:prstGeom>
          <a:noFill/>
        </p:spPr>
        <p:txBody>
          <a:bodyPr wrap="square" lIns="45720" rIns="45720">
            <a:spAutoFit/>
          </a:bodyPr>
          <a:lstStyle/>
          <a:p>
            <a:r>
              <a:rPr sz="1500" b="0">
                <a:solidFill>
                  <a:srgbClr val="3C3C3B"/>
                </a:solidFill>
              </a:rPr>
              <a:t>Three pages live, linked from every page footer and the sign-up form. Legal has signed off on the wording.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0" cy="6858000"/>
          </a:xfrm>
          <a:prstGeom prst="rect">
            <a:avLst/>
          </a:prstGeom>
          <a:solidFill>
            <a:srgbClr val="3C3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548640"/>
            <a:ext cx="1828800" cy="548640"/>
          </a:xfrm>
          <a:prstGeom prst="rect">
            <a:avLst/>
          </a:prstGeom>
          <a:noFill/>
        </p:spPr>
        <p:txBody>
          <a:bodyPr wrap="square" lIns="45720" rIns="45720">
            <a:spAutoFit/>
          </a:bodyPr>
          <a:lstStyle/>
          <a:p>
            <a:r>
              <a:rPr sz="1600" b="1">
                <a:solidFill>
                  <a:srgbClr val="FDC800"/>
                </a:solidFill>
              </a:rPr>
              <a:t>STEP 5</a:t>
            </a:r>
          </a:p>
        </p:txBody>
      </p:sp>
      <p:sp>
        <p:nvSpPr>
          <p:cNvPr id="5" name="TextBox 4"/>
          <p:cNvSpPr txBox="1"/>
          <p:nvPr/>
        </p:nvSpPr>
        <p:spPr>
          <a:xfrm>
            <a:off x="182880" y="1188720"/>
            <a:ext cx="1828800" cy="3657600"/>
          </a:xfrm>
          <a:prstGeom prst="rect">
            <a:avLst/>
          </a:prstGeom>
          <a:noFill/>
        </p:spPr>
        <p:txBody>
          <a:bodyPr wrap="square" lIns="45720" rIns="45720">
            <a:spAutoFit/>
          </a:bodyPr>
          <a:lstStyle/>
          <a:p>
            <a:r>
              <a:rPr sz="1400" b="0">
                <a:solidFill>
                  <a:srgbClr val="A7A9AC"/>
                </a:solidFill>
              </a:rPr>
              <a:t>of 10</a:t>
            </a:r>
          </a:p>
        </p:txBody>
      </p:sp>
      <p:sp>
        <p:nvSpPr>
          <p:cNvPr id="6" name="TextBox 5"/>
          <p:cNvSpPr txBox="1"/>
          <p:nvPr/>
        </p:nvSpPr>
        <p:spPr>
          <a:xfrm>
            <a:off x="2377440" y="457200"/>
            <a:ext cx="9418320" cy="822960"/>
          </a:xfrm>
          <a:prstGeom prst="rect">
            <a:avLst/>
          </a:prstGeom>
          <a:noFill/>
        </p:spPr>
        <p:txBody>
          <a:bodyPr wrap="square" lIns="45720" rIns="45720">
            <a:spAutoFit/>
          </a:bodyPr>
          <a:lstStyle/>
          <a:p>
            <a:r>
              <a:rPr sz="3200" b="1">
                <a:solidFill>
                  <a:srgbClr val="3C3C3B"/>
                </a:solidFill>
              </a:rPr>
              <a:t>Branding polish</a:t>
            </a:r>
          </a:p>
        </p:txBody>
      </p:sp>
      <p:sp>
        <p:nvSpPr>
          <p:cNvPr id="7" name="Rectangle 6"/>
          <p:cNvSpPr/>
          <p:nvPr/>
        </p:nvSpPr>
        <p:spPr>
          <a:xfrm>
            <a:off x="2377440" y="1234440"/>
            <a:ext cx="1097280" cy="73152"/>
          </a:xfrm>
          <a:prstGeom prst="rect">
            <a:avLst/>
          </a:prstGeom>
          <a:solidFill>
            <a:srgbClr val="FD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77440" y="1463040"/>
            <a:ext cx="9418320" cy="365760"/>
          </a:xfrm>
          <a:prstGeom prst="rect">
            <a:avLst/>
          </a:prstGeom>
          <a:noFill/>
        </p:spPr>
        <p:txBody>
          <a:bodyPr wrap="square" lIns="45720" rIns="45720">
            <a:spAutoFit/>
          </a:bodyPr>
          <a:lstStyle/>
          <a:p>
            <a:r>
              <a:rPr sz="1200" b="1">
                <a:solidFill>
                  <a:srgbClr val="FDC800"/>
                </a:solidFill>
              </a:rPr>
              <a:t>WHAT</a:t>
            </a:r>
          </a:p>
        </p:txBody>
      </p:sp>
      <p:sp>
        <p:nvSpPr>
          <p:cNvPr id="9" name="TextBox 8"/>
          <p:cNvSpPr txBox="1"/>
          <p:nvPr/>
        </p:nvSpPr>
        <p:spPr>
          <a:xfrm>
            <a:off x="2377440" y="1828800"/>
            <a:ext cx="9418320" cy="1463040"/>
          </a:xfrm>
          <a:prstGeom prst="rect">
            <a:avLst/>
          </a:prstGeom>
          <a:noFill/>
        </p:spPr>
        <p:txBody>
          <a:bodyPr wrap="square" lIns="45720" rIns="45720">
            <a:spAutoFit/>
          </a:bodyPr>
          <a:lstStyle/>
          <a:p>
            <a:r>
              <a:rPr sz="1500" b="0">
                <a:solidFill>
                  <a:srgbClr val="3C3C3B"/>
                </a:solidFill>
              </a:rPr>
              <a:t>Walk every page on mobile and desktop. Confirm logo, colours, fonts and tone match Maverick's brand kit. Check empty states look intentional, error messages are friendly, and loading states are visible.</a:t>
            </a:r>
          </a:p>
        </p:txBody>
      </p:sp>
      <p:sp>
        <p:nvSpPr>
          <p:cNvPr id="10" name="TextBox 9"/>
          <p:cNvSpPr txBox="1"/>
          <p:nvPr/>
        </p:nvSpPr>
        <p:spPr>
          <a:xfrm>
            <a:off x="2377440" y="3291840"/>
            <a:ext cx="9418320" cy="365760"/>
          </a:xfrm>
          <a:prstGeom prst="rect">
            <a:avLst/>
          </a:prstGeom>
          <a:noFill/>
        </p:spPr>
        <p:txBody>
          <a:bodyPr wrap="square" lIns="45720" rIns="45720">
            <a:spAutoFit/>
          </a:bodyPr>
          <a:lstStyle/>
          <a:p>
            <a:r>
              <a:rPr sz="1200" b="1">
                <a:solidFill>
                  <a:srgbClr val="FDC800"/>
                </a:solidFill>
              </a:rPr>
              <a:t>WHY IT MATTERS</a:t>
            </a:r>
          </a:p>
        </p:txBody>
      </p:sp>
      <p:sp>
        <p:nvSpPr>
          <p:cNvPr id="11" name="TextBox 10"/>
          <p:cNvSpPr txBox="1"/>
          <p:nvPr/>
        </p:nvSpPr>
        <p:spPr>
          <a:xfrm>
            <a:off x="2377440" y="3657600"/>
            <a:ext cx="9418320" cy="1280160"/>
          </a:xfrm>
          <a:prstGeom prst="rect">
            <a:avLst/>
          </a:prstGeom>
          <a:noFill/>
        </p:spPr>
        <p:txBody>
          <a:bodyPr wrap="square" lIns="45720" rIns="45720">
            <a:spAutoFit/>
          </a:bodyPr>
          <a:lstStyle/>
          <a:p>
            <a:r>
              <a:rPr sz="1500" b="0">
                <a:solidFill>
                  <a:srgbClr val="3C3C3B"/>
                </a:solidFill>
              </a:rPr>
              <a:t>Customers judge trust in the first 5 seconds. A loyalty programme that looks like a developer demo loses sign-ups before the value is even explained.</a:t>
            </a:r>
          </a:p>
        </p:txBody>
      </p:sp>
      <p:sp>
        <p:nvSpPr>
          <p:cNvPr id="12" name="TextBox 11"/>
          <p:cNvSpPr txBox="1"/>
          <p:nvPr/>
        </p:nvSpPr>
        <p:spPr>
          <a:xfrm>
            <a:off x="2377440" y="5029200"/>
            <a:ext cx="9418320" cy="365760"/>
          </a:xfrm>
          <a:prstGeom prst="rect">
            <a:avLst/>
          </a:prstGeom>
          <a:noFill/>
        </p:spPr>
        <p:txBody>
          <a:bodyPr wrap="square" lIns="45720" rIns="45720">
            <a:spAutoFit/>
          </a:bodyPr>
          <a:lstStyle/>
          <a:p>
            <a:r>
              <a:rPr sz="1200" b="1">
                <a:solidFill>
                  <a:srgbClr val="FDC800"/>
                </a:solidFill>
              </a:rPr>
              <a:t>DONE LOOKS LIKE</a:t>
            </a:r>
          </a:p>
        </p:txBody>
      </p:sp>
      <p:sp>
        <p:nvSpPr>
          <p:cNvPr id="13" name="TextBox 12"/>
          <p:cNvSpPr txBox="1"/>
          <p:nvPr/>
        </p:nvSpPr>
        <p:spPr>
          <a:xfrm>
            <a:off x="2377440" y="5394960"/>
            <a:ext cx="9418320" cy="1280160"/>
          </a:xfrm>
          <a:prstGeom prst="rect">
            <a:avLst/>
          </a:prstGeom>
          <a:noFill/>
        </p:spPr>
        <p:txBody>
          <a:bodyPr wrap="square" lIns="45720" rIns="45720">
            <a:spAutoFit/>
          </a:bodyPr>
          <a:lstStyle/>
          <a:p>
            <a:r>
              <a:rPr sz="1500" b="0">
                <a:solidFill>
                  <a:srgbClr val="3C3C3B"/>
                </a:solidFill>
              </a:rPr>
              <a:t>Every page passes a side-by-side visual review against Maverick's brand kit. No placeholder text remains.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0" cy="6858000"/>
          </a:xfrm>
          <a:prstGeom prst="rect">
            <a:avLst/>
          </a:prstGeom>
          <a:solidFill>
            <a:srgbClr val="3C3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548640"/>
            <a:ext cx="1828800" cy="548640"/>
          </a:xfrm>
          <a:prstGeom prst="rect">
            <a:avLst/>
          </a:prstGeom>
          <a:noFill/>
        </p:spPr>
        <p:txBody>
          <a:bodyPr wrap="square" lIns="45720" rIns="45720">
            <a:spAutoFit/>
          </a:bodyPr>
          <a:lstStyle/>
          <a:p>
            <a:r>
              <a:rPr sz="1600" b="1">
                <a:solidFill>
                  <a:srgbClr val="FDC800"/>
                </a:solidFill>
              </a:rPr>
              <a:t>STEP 6</a:t>
            </a:r>
          </a:p>
        </p:txBody>
      </p:sp>
      <p:sp>
        <p:nvSpPr>
          <p:cNvPr id="5" name="TextBox 4"/>
          <p:cNvSpPr txBox="1"/>
          <p:nvPr/>
        </p:nvSpPr>
        <p:spPr>
          <a:xfrm>
            <a:off x="182880" y="1188720"/>
            <a:ext cx="1828800" cy="3657600"/>
          </a:xfrm>
          <a:prstGeom prst="rect">
            <a:avLst/>
          </a:prstGeom>
          <a:noFill/>
        </p:spPr>
        <p:txBody>
          <a:bodyPr wrap="square" lIns="45720" rIns="45720">
            <a:spAutoFit/>
          </a:bodyPr>
          <a:lstStyle/>
          <a:p>
            <a:r>
              <a:rPr sz="1400" b="0">
                <a:solidFill>
                  <a:srgbClr val="A7A9AC"/>
                </a:solidFill>
              </a:rPr>
              <a:t>of 10</a:t>
            </a:r>
          </a:p>
        </p:txBody>
      </p:sp>
      <p:sp>
        <p:nvSpPr>
          <p:cNvPr id="6" name="TextBox 5"/>
          <p:cNvSpPr txBox="1"/>
          <p:nvPr/>
        </p:nvSpPr>
        <p:spPr>
          <a:xfrm>
            <a:off x="2377440" y="457200"/>
            <a:ext cx="9418320" cy="822960"/>
          </a:xfrm>
          <a:prstGeom prst="rect">
            <a:avLst/>
          </a:prstGeom>
          <a:noFill/>
        </p:spPr>
        <p:txBody>
          <a:bodyPr wrap="square" lIns="45720" rIns="45720">
            <a:spAutoFit/>
          </a:bodyPr>
          <a:lstStyle/>
          <a:p>
            <a:r>
              <a:rPr sz="3200" b="1">
                <a:solidFill>
                  <a:srgbClr val="3C3C3B"/>
                </a:solidFill>
              </a:rPr>
              <a:t>Real-device QA</a:t>
            </a:r>
          </a:p>
        </p:txBody>
      </p:sp>
      <p:sp>
        <p:nvSpPr>
          <p:cNvPr id="7" name="Rectangle 6"/>
          <p:cNvSpPr/>
          <p:nvPr/>
        </p:nvSpPr>
        <p:spPr>
          <a:xfrm>
            <a:off x="2377440" y="1234440"/>
            <a:ext cx="1097280" cy="73152"/>
          </a:xfrm>
          <a:prstGeom prst="rect">
            <a:avLst/>
          </a:prstGeom>
          <a:solidFill>
            <a:srgbClr val="FD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77440" y="1463040"/>
            <a:ext cx="9418320" cy="365760"/>
          </a:xfrm>
          <a:prstGeom prst="rect">
            <a:avLst/>
          </a:prstGeom>
          <a:noFill/>
        </p:spPr>
        <p:txBody>
          <a:bodyPr wrap="square" lIns="45720" rIns="45720">
            <a:spAutoFit/>
          </a:bodyPr>
          <a:lstStyle/>
          <a:p>
            <a:r>
              <a:rPr sz="1200" b="1">
                <a:solidFill>
                  <a:srgbClr val="FDC800"/>
                </a:solidFill>
              </a:rPr>
              <a:t>WHAT</a:t>
            </a:r>
          </a:p>
        </p:txBody>
      </p:sp>
      <p:sp>
        <p:nvSpPr>
          <p:cNvPr id="9" name="TextBox 8"/>
          <p:cNvSpPr txBox="1"/>
          <p:nvPr/>
        </p:nvSpPr>
        <p:spPr>
          <a:xfrm>
            <a:off x="2377440" y="1828800"/>
            <a:ext cx="9418320" cy="1463040"/>
          </a:xfrm>
          <a:prstGeom prst="rect">
            <a:avLst/>
          </a:prstGeom>
          <a:noFill/>
        </p:spPr>
        <p:txBody>
          <a:bodyPr wrap="square" lIns="45720" rIns="45720">
            <a:spAutoFit/>
          </a:bodyPr>
          <a:lstStyle/>
          <a:p>
            <a:r>
              <a:rPr sz="1500" b="0">
                <a:solidFill>
                  <a:srgbClr val="3C3C3B"/>
                </a:solidFill>
              </a:rPr>
              <a:t>Test the full flow on a real Android phone, a real iPhone, and a desktop browser: sign up, receive the email, enter the code, upload a real MTN till slip or PDF invoice, see points, redeem a reward, log out, log back in, forgot password.</a:t>
            </a:r>
          </a:p>
        </p:txBody>
      </p:sp>
      <p:sp>
        <p:nvSpPr>
          <p:cNvPr id="10" name="TextBox 9"/>
          <p:cNvSpPr txBox="1"/>
          <p:nvPr/>
        </p:nvSpPr>
        <p:spPr>
          <a:xfrm>
            <a:off x="2377440" y="3291840"/>
            <a:ext cx="9418320" cy="365760"/>
          </a:xfrm>
          <a:prstGeom prst="rect">
            <a:avLst/>
          </a:prstGeom>
          <a:noFill/>
        </p:spPr>
        <p:txBody>
          <a:bodyPr wrap="square" lIns="45720" rIns="45720">
            <a:spAutoFit/>
          </a:bodyPr>
          <a:lstStyle/>
          <a:p>
            <a:r>
              <a:rPr sz="1200" b="1">
                <a:solidFill>
                  <a:srgbClr val="FDC800"/>
                </a:solidFill>
              </a:rPr>
              <a:t>WHY IT MATTERS</a:t>
            </a:r>
          </a:p>
        </p:txBody>
      </p:sp>
      <p:sp>
        <p:nvSpPr>
          <p:cNvPr id="11" name="TextBox 10"/>
          <p:cNvSpPr txBox="1"/>
          <p:nvPr/>
        </p:nvSpPr>
        <p:spPr>
          <a:xfrm>
            <a:off x="2377440" y="3657600"/>
            <a:ext cx="9418320" cy="1280160"/>
          </a:xfrm>
          <a:prstGeom prst="rect">
            <a:avLst/>
          </a:prstGeom>
          <a:noFill/>
        </p:spPr>
        <p:txBody>
          <a:bodyPr wrap="square" lIns="45720" rIns="45720">
            <a:spAutoFit/>
          </a:bodyPr>
          <a:lstStyle/>
          <a:p>
            <a:r>
              <a:rPr sz="1500" b="0">
                <a:solidFill>
                  <a:srgbClr val="3C3C3B"/>
                </a:solidFill>
              </a:rPr>
              <a:t>Browser dev tools lie. Real cameras, real keyboards, and real network conditions catch the bugs that ship to thousands of customers.</a:t>
            </a:r>
          </a:p>
        </p:txBody>
      </p:sp>
      <p:sp>
        <p:nvSpPr>
          <p:cNvPr id="12" name="TextBox 11"/>
          <p:cNvSpPr txBox="1"/>
          <p:nvPr/>
        </p:nvSpPr>
        <p:spPr>
          <a:xfrm>
            <a:off x="2377440" y="5029200"/>
            <a:ext cx="9418320" cy="365760"/>
          </a:xfrm>
          <a:prstGeom prst="rect">
            <a:avLst/>
          </a:prstGeom>
          <a:noFill/>
        </p:spPr>
        <p:txBody>
          <a:bodyPr wrap="square" lIns="45720" rIns="45720">
            <a:spAutoFit/>
          </a:bodyPr>
          <a:lstStyle/>
          <a:p>
            <a:r>
              <a:rPr sz="1200" b="1">
                <a:solidFill>
                  <a:srgbClr val="FDC800"/>
                </a:solidFill>
              </a:rPr>
              <a:t>DONE LOOKS LIKE</a:t>
            </a:r>
          </a:p>
        </p:txBody>
      </p:sp>
      <p:sp>
        <p:nvSpPr>
          <p:cNvPr id="13" name="TextBox 12"/>
          <p:cNvSpPr txBox="1"/>
          <p:nvPr/>
        </p:nvSpPr>
        <p:spPr>
          <a:xfrm>
            <a:off x="2377440" y="5394960"/>
            <a:ext cx="9418320" cy="1280160"/>
          </a:xfrm>
          <a:prstGeom prst="rect">
            <a:avLst/>
          </a:prstGeom>
          <a:noFill/>
        </p:spPr>
        <p:txBody>
          <a:bodyPr wrap="square" lIns="45720" rIns="45720">
            <a:spAutoFit/>
          </a:bodyPr>
          <a:lstStyle/>
          <a:p>
            <a:r>
              <a:rPr sz="1500" b="0">
                <a:solidFill>
                  <a:srgbClr val="3C3C3B"/>
                </a:solidFill>
              </a:rPr>
              <a:t>The end-to-end flow works on all three devices. Anything that broke has been fixed and re-tested.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0" cy="6858000"/>
          </a:xfrm>
          <a:prstGeom prst="rect">
            <a:avLst/>
          </a:prstGeom>
          <a:solidFill>
            <a:srgbClr val="3C3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548640"/>
            <a:ext cx="1828800" cy="548640"/>
          </a:xfrm>
          <a:prstGeom prst="rect">
            <a:avLst/>
          </a:prstGeom>
          <a:noFill/>
        </p:spPr>
        <p:txBody>
          <a:bodyPr wrap="square" lIns="45720" rIns="45720">
            <a:spAutoFit/>
          </a:bodyPr>
          <a:lstStyle/>
          <a:p>
            <a:r>
              <a:rPr sz="1600" b="1">
                <a:solidFill>
                  <a:srgbClr val="FDC800"/>
                </a:solidFill>
              </a:rPr>
              <a:t>STEP 7</a:t>
            </a:r>
          </a:p>
        </p:txBody>
      </p:sp>
      <p:sp>
        <p:nvSpPr>
          <p:cNvPr id="5" name="TextBox 4"/>
          <p:cNvSpPr txBox="1"/>
          <p:nvPr/>
        </p:nvSpPr>
        <p:spPr>
          <a:xfrm>
            <a:off x="182880" y="1188720"/>
            <a:ext cx="1828800" cy="3657600"/>
          </a:xfrm>
          <a:prstGeom prst="rect">
            <a:avLst/>
          </a:prstGeom>
          <a:noFill/>
        </p:spPr>
        <p:txBody>
          <a:bodyPr wrap="square" lIns="45720" rIns="45720">
            <a:spAutoFit/>
          </a:bodyPr>
          <a:lstStyle/>
          <a:p>
            <a:r>
              <a:rPr sz="1400" b="0">
                <a:solidFill>
                  <a:srgbClr val="A7A9AC"/>
                </a:solidFill>
              </a:rPr>
              <a:t>of 10</a:t>
            </a:r>
          </a:p>
        </p:txBody>
      </p:sp>
      <p:sp>
        <p:nvSpPr>
          <p:cNvPr id="6" name="TextBox 5"/>
          <p:cNvSpPr txBox="1"/>
          <p:nvPr/>
        </p:nvSpPr>
        <p:spPr>
          <a:xfrm>
            <a:off x="2377440" y="457200"/>
            <a:ext cx="9418320" cy="822960"/>
          </a:xfrm>
          <a:prstGeom prst="rect">
            <a:avLst/>
          </a:prstGeom>
          <a:noFill/>
        </p:spPr>
        <p:txBody>
          <a:bodyPr wrap="square" lIns="45720" rIns="45720">
            <a:spAutoFit/>
          </a:bodyPr>
          <a:lstStyle/>
          <a:p>
            <a:r>
              <a:rPr sz="3200" b="1">
                <a:solidFill>
                  <a:srgbClr val="3C3C3B"/>
                </a:solidFill>
              </a:rPr>
              <a:t>Admin &amp; catalogue</a:t>
            </a:r>
          </a:p>
        </p:txBody>
      </p:sp>
      <p:sp>
        <p:nvSpPr>
          <p:cNvPr id="7" name="Rectangle 6"/>
          <p:cNvSpPr/>
          <p:nvPr/>
        </p:nvSpPr>
        <p:spPr>
          <a:xfrm>
            <a:off x="2377440" y="1234440"/>
            <a:ext cx="1097280" cy="73152"/>
          </a:xfrm>
          <a:prstGeom prst="rect">
            <a:avLst/>
          </a:prstGeom>
          <a:solidFill>
            <a:srgbClr val="FD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77440" y="1463040"/>
            <a:ext cx="9418320" cy="365760"/>
          </a:xfrm>
          <a:prstGeom prst="rect">
            <a:avLst/>
          </a:prstGeom>
          <a:noFill/>
        </p:spPr>
        <p:txBody>
          <a:bodyPr wrap="square" lIns="45720" rIns="45720">
            <a:spAutoFit/>
          </a:bodyPr>
          <a:lstStyle/>
          <a:p>
            <a:r>
              <a:rPr sz="1200" b="1">
                <a:solidFill>
                  <a:srgbClr val="FDC800"/>
                </a:solidFill>
              </a:rPr>
              <a:t>WHAT</a:t>
            </a:r>
          </a:p>
        </p:txBody>
      </p:sp>
      <p:sp>
        <p:nvSpPr>
          <p:cNvPr id="9" name="TextBox 8"/>
          <p:cNvSpPr txBox="1"/>
          <p:nvPr/>
        </p:nvSpPr>
        <p:spPr>
          <a:xfrm>
            <a:off x="2377440" y="1828800"/>
            <a:ext cx="9418320" cy="1463040"/>
          </a:xfrm>
          <a:prstGeom prst="rect">
            <a:avLst/>
          </a:prstGeom>
          <a:noFill/>
        </p:spPr>
        <p:txBody>
          <a:bodyPr wrap="square" lIns="45720" rIns="45720">
            <a:spAutoFit/>
          </a:bodyPr>
          <a:lstStyle/>
          <a:p>
            <a:r>
              <a:rPr sz="1500" b="0">
                <a:solidFill>
                  <a:srgbClr val="3C3C3B"/>
                </a:solidFill>
              </a:rPr>
              <a:t>Create the first real super-admin account for Maverick and remove any test admins. Load the real rewards catalogue, real MTN packages, and real point-earning rules.</a:t>
            </a:r>
          </a:p>
        </p:txBody>
      </p:sp>
      <p:sp>
        <p:nvSpPr>
          <p:cNvPr id="10" name="TextBox 9"/>
          <p:cNvSpPr txBox="1"/>
          <p:nvPr/>
        </p:nvSpPr>
        <p:spPr>
          <a:xfrm>
            <a:off x="2377440" y="3291840"/>
            <a:ext cx="9418320" cy="365760"/>
          </a:xfrm>
          <a:prstGeom prst="rect">
            <a:avLst/>
          </a:prstGeom>
          <a:noFill/>
        </p:spPr>
        <p:txBody>
          <a:bodyPr wrap="square" lIns="45720" rIns="45720">
            <a:spAutoFit/>
          </a:bodyPr>
          <a:lstStyle/>
          <a:p>
            <a:r>
              <a:rPr sz="1200" b="1">
                <a:solidFill>
                  <a:srgbClr val="FDC800"/>
                </a:solidFill>
              </a:rPr>
              <a:t>WHY IT MATTERS</a:t>
            </a:r>
          </a:p>
        </p:txBody>
      </p:sp>
      <p:sp>
        <p:nvSpPr>
          <p:cNvPr id="11" name="TextBox 10"/>
          <p:cNvSpPr txBox="1"/>
          <p:nvPr/>
        </p:nvSpPr>
        <p:spPr>
          <a:xfrm>
            <a:off x="2377440" y="3657600"/>
            <a:ext cx="9418320" cy="1280160"/>
          </a:xfrm>
          <a:prstGeom prst="rect">
            <a:avLst/>
          </a:prstGeom>
          <a:noFill/>
        </p:spPr>
        <p:txBody>
          <a:bodyPr wrap="square" lIns="45720" rIns="45720">
            <a:spAutoFit/>
          </a:bodyPr>
          <a:lstStyle/>
          <a:p>
            <a:r>
              <a:rPr sz="1500" b="0">
                <a:solidFill>
                  <a:srgbClr val="3C3C3B"/>
                </a:solidFill>
              </a:rPr>
              <a:t>Launching on placeholder rewards is worse than not launching — customers earn points they cannot spend on anything they want.</a:t>
            </a:r>
          </a:p>
        </p:txBody>
      </p:sp>
      <p:sp>
        <p:nvSpPr>
          <p:cNvPr id="12" name="TextBox 11"/>
          <p:cNvSpPr txBox="1"/>
          <p:nvPr/>
        </p:nvSpPr>
        <p:spPr>
          <a:xfrm>
            <a:off x="2377440" y="5029200"/>
            <a:ext cx="9418320" cy="365760"/>
          </a:xfrm>
          <a:prstGeom prst="rect">
            <a:avLst/>
          </a:prstGeom>
          <a:noFill/>
        </p:spPr>
        <p:txBody>
          <a:bodyPr wrap="square" lIns="45720" rIns="45720">
            <a:spAutoFit/>
          </a:bodyPr>
          <a:lstStyle/>
          <a:p>
            <a:r>
              <a:rPr sz="1200" b="1">
                <a:solidFill>
                  <a:srgbClr val="FDC800"/>
                </a:solidFill>
              </a:rPr>
              <a:t>DONE LOOKS LIKE</a:t>
            </a:r>
          </a:p>
        </p:txBody>
      </p:sp>
      <p:sp>
        <p:nvSpPr>
          <p:cNvPr id="13" name="TextBox 12"/>
          <p:cNvSpPr txBox="1"/>
          <p:nvPr/>
        </p:nvSpPr>
        <p:spPr>
          <a:xfrm>
            <a:off x="2377440" y="5394960"/>
            <a:ext cx="9418320" cy="1280160"/>
          </a:xfrm>
          <a:prstGeom prst="rect">
            <a:avLst/>
          </a:prstGeom>
          <a:noFill/>
        </p:spPr>
        <p:txBody>
          <a:bodyPr wrap="square" lIns="45720" rIns="45720">
            <a:spAutoFit/>
          </a:bodyPr>
          <a:lstStyle/>
          <a:p>
            <a:r>
              <a:rPr sz="1500" b="0">
                <a:solidFill>
                  <a:srgbClr val="3C3C3B"/>
                </a:solidFill>
              </a:rPr>
              <a:t>Maverick's chosen admin can sign in. The rewards catalogue, packages, and earning rules match what marketing has approved.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0" cy="6858000"/>
          </a:xfrm>
          <a:prstGeom prst="rect">
            <a:avLst/>
          </a:prstGeom>
          <a:solidFill>
            <a:srgbClr val="3C3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548640"/>
            <a:ext cx="1828800" cy="548640"/>
          </a:xfrm>
          <a:prstGeom prst="rect">
            <a:avLst/>
          </a:prstGeom>
          <a:noFill/>
        </p:spPr>
        <p:txBody>
          <a:bodyPr wrap="square" lIns="45720" rIns="45720">
            <a:spAutoFit/>
          </a:bodyPr>
          <a:lstStyle/>
          <a:p>
            <a:r>
              <a:rPr sz="1600" b="1">
                <a:solidFill>
                  <a:srgbClr val="FDC800"/>
                </a:solidFill>
              </a:rPr>
              <a:t>STEP 8</a:t>
            </a:r>
          </a:p>
        </p:txBody>
      </p:sp>
      <p:sp>
        <p:nvSpPr>
          <p:cNvPr id="5" name="TextBox 4"/>
          <p:cNvSpPr txBox="1"/>
          <p:nvPr/>
        </p:nvSpPr>
        <p:spPr>
          <a:xfrm>
            <a:off x="182880" y="1188720"/>
            <a:ext cx="1828800" cy="3657600"/>
          </a:xfrm>
          <a:prstGeom prst="rect">
            <a:avLst/>
          </a:prstGeom>
          <a:noFill/>
        </p:spPr>
        <p:txBody>
          <a:bodyPr wrap="square" lIns="45720" rIns="45720">
            <a:spAutoFit/>
          </a:bodyPr>
          <a:lstStyle/>
          <a:p>
            <a:r>
              <a:rPr sz="1400" b="0">
                <a:solidFill>
                  <a:srgbClr val="A7A9AC"/>
                </a:solidFill>
              </a:rPr>
              <a:t>of 10</a:t>
            </a:r>
          </a:p>
        </p:txBody>
      </p:sp>
      <p:sp>
        <p:nvSpPr>
          <p:cNvPr id="6" name="TextBox 5"/>
          <p:cNvSpPr txBox="1"/>
          <p:nvPr/>
        </p:nvSpPr>
        <p:spPr>
          <a:xfrm>
            <a:off x="2377440" y="457200"/>
            <a:ext cx="9418320" cy="822960"/>
          </a:xfrm>
          <a:prstGeom prst="rect">
            <a:avLst/>
          </a:prstGeom>
          <a:noFill/>
        </p:spPr>
        <p:txBody>
          <a:bodyPr wrap="square" lIns="45720" rIns="45720">
            <a:spAutoFit/>
          </a:bodyPr>
          <a:lstStyle/>
          <a:p>
            <a:r>
              <a:rPr sz="3200" b="1">
                <a:solidFill>
                  <a:srgbClr val="3C3C3B"/>
                </a:solidFill>
              </a:rPr>
              <a:t>Deploy &amp; domain</a:t>
            </a:r>
          </a:p>
        </p:txBody>
      </p:sp>
      <p:sp>
        <p:nvSpPr>
          <p:cNvPr id="7" name="Rectangle 6"/>
          <p:cNvSpPr/>
          <p:nvPr/>
        </p:nvSpPr>
        <p:spPr>
          <a:xfrm>
            <a:off x="2377440" y="1234440"/>
            <a:ext cx="1097280" cy="73152"/>
          </a:xfrm>
          <a:prstGeom prst="rect">
            <a:avLst/>
          </a:prstGeom>
          <a:solidFill>
            <a:srgbClr val="FD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77440" y="1463040"/>
            <a:ext cx="9418320" cy="365760"/>
          </a:xfrm>
          <a:prstGeom prst="rect">
            <a:avLst/>
          </a:prstGeom>
          <a:noFill/>
        </p:spPr>
        <p:txBody>
          <a:bodyPr wrap="square" lIns="45720" rIns="45720">
            <a:spAutoFit/>
          </a:bodyPr>
          <a:lstStyle/>
          <a:p>
            <a:r>
              <a:rPr sz="1200" b="1">
                <a:solidFill>
                  <a:srgbClr val="FDC800"/>
                </a:solidFill>
              </a:rPr>
              <a:t>WHAT</a:t>
            </a:r>
          </a:p>
        </p:txBody>
      </p:sp>
      <p:sp>
        <p:nvSpPr>
          <p:cNvPr id="9" name="TextBox 8"/>
          <p:cNvSpPr txBox="1"/>
          <p:nvPr/>
        </p:nvSpPr>
        <p:spPr>
          <a:xfrm>
            <a:off x="2377440" y="1828800"/>
            <a:ext cx="9418320" cy="1463040"/>
          </a:xfrm>
          <a:prstGeom prst="rect">
            <a:avLst/>
          </a:prstGeom>
          <a:noFill/>
        </p:spPr>
        <p:txBody>
          <a:bodyPr wrap="square" lIns="45720" rIns="45720">
            <a:spAutoFit/>
          </a:bodyPr>
          <a:lstStyle/>
          <a:p>
            <a:r>
              <a:rPr sz="1500" b="0">
                <a:solidFill>
                  <a:srgbClr val="3C3C3B"/>
                </a:solidFill>
              </a:rPr>
              <a:t>Publish the app via Replit Deployments. If Maverick has a domain (e.g. loyalty.maverick.co.za), connect it and verify HTTPS. Set production secrets (DATABASE_URL, SESSION_SECRET, SendGrid key) in the deployment environment.</a:t>
            </a:r>
          </a:p>
        </p:txBody>
      </p:sp>
      <p:sp>
        <p:nvSpPr>
          <p:cNvPr id="10" name="TextBox 9"/>
          <p:cNvSpPr txBox="1"/>
          <p:nvPr/>
        </p:nvSpPr>
        <p:spPr>
          <a:xfrm>
            <a:off x="2377440" y="3291840"/>
            <a:ext cx="9418320" cy="365760"/>
          </a:xfrm>
          <a:prstGeom prst="rect">
            <a:avLst/>
          </a:prstGeom>
          <a:noFill/>
        </p:spPr>
        <p:txBody>
          <a:bodyPr wrap="square" lIns="45720" rIns="45720">
            <a:spAutoFit/>
          </a:bodyPr>
          <a:lstStyle/>
          <a:p>
            <a:r>
              <a:rPr sz="1200" b="1">
                <a:solidFill>
                  <a:srgbClr val="FDC800"/>
                </a:solidFill>
              </a:rPr>
              <a:t>WHY IT MATTERS</a:t>
            </a:r>
          </a:p>
        </p:txBody>
      </p:sp>
      <p:sp>
        <p:nvSpPr>
          <p:cNvPr id="11" name="TextBox 10"/>
          <p:cNvSpPr txBox="1"/>
          <p:nvPr/>
        </p:nvSpPr>
        <p:spPr>
          <a:xfrm>
            <a:off x="2377440" y="3657600"/>
            <a:ext cx="9418320" cy="1280160"/>
          </a:xfrm>
          <a:prstGeom prst="rect">
            <a:avLst/>
          </a:prstGeom>
          <a:noFill/>
        </p:spPr>
        <p:txBody>
          <a:bodyPr wrap="square" lIns="45720" rIns="45720">
            <a:spAutoFit/>
          </a:bodyPr>
          <a:lstStyle/>
          <a:p>
            <a:r>
              <a:rPr sz="1500" b="0">
                <a:solidFill>
                  <a:srgbClr val="3C3C3B"/>
                </a:solidFill>
              </a:rPr>
              <a:t>Until it's deployed on a Maverick URL, it isn't a product — it's a prototype.</a:t>
            </a:r>
          </a:p>
        </p:txBody>
      </p:sp>
      <p:sp>
        <p:nvSpPr>
          <p:cNvPr id="12" name="TextBox 11"/>
          <p:cNvSpPr txBox="1"/>
          <p:nvPr/>
        </p:nvSpPr>
        <p:spPr>
          <a:xfrm>
            <a:off x="2377440" y="5029200"/>
            <a:ext cx="9418320" cy="365760"/>
          </a:xfrm>
          <a:prstGeom prst="rect">
            <a:avLst/>
          </a:prstGeom>
          <a:noFill/>
        </p:spPr>
        <p:txBody>
          <a:bodyPr wrap="square" lIns="45720" rIns="45720">
            <a:spAutoFit/>
          </a:bodyPr>
          <a:lstStyle/>
          <a:p>
            <a:r>
              <a:rPr sz="1200" b="1">
                <a:solidFill>
                  <a:srgbClr val="FDC800"/>
                </a:solidFill>
              </a:rPr>
              <a:t>DONE LOOKS LIKE</a:t>
            </a:r>
          </a:p>
        </p:txBody>
      </p:sp>
      <p:sp>
        <p:nvSpPr>
          <p:cNvPr id="13" name="TextBox 12"/>
          <p:cNvSpPr txBox="1"/>
          <p:nvPr/>
        </p:nvSpPr>
        <p:spPr>
          <a:xfrm>
            <a:off x="2377440" y="5394960"/>
            <a:ext cx="9418320" cy="1280160"/>
          </a:xfrm>
          <a:prstGeom prst="rect">
            <a:avLst/>
          </a:prstGeom>
          <a:noFill/>
        </p:spPr>
        <p:txBody>
          <a:bodyPr wrap="square" lIns="45720" rIns="45720">
            <a:spAutoFit/>
          </a:bodyPr>
          <a:lstStyle/>
          <a:p>
            <a:r>
              <a:rPr sz="1500" b="0">
                <a:solidFill>
                  <a:srgbClr val="3C3C3B"/>
                </a:solidFill>
              </a:rPr>
              <a:t>The app is live on the chosen URL, HTTPS works, all secrets are set, and the production sign-up flow completes end-to-end.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0" cy="6858000"/>
          </a:xfrm>
          <a:prstGeom prst="rect">
            <a:avLst/>
          </a:prstGeom>
          <a:solidFill>
            <a:srgbClr val="3C3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548640"/>
            <a:ext cx="1828800" cy="548640"/>
          </a:xfrm>
          <a:prstGeom prst="rect">
            <a:avLst/>
          </a:prstGeom>
          <a:noFill/>
        </p:spPr>
        <p:txBody>
          <a:bodyPr wrap="square" lIns="45720" rIns="45720">
            <a:spAutoFit/>
          </a:bodyPr>
          <a:lstStyle/>
          <a:p>
            <a:r>
              <a:rPr sz="1600" b="1">
                <a:solidFill>
                  <a:srgbClr val="FDC800"/>
                </a:solidFill>
              </a:rPr>
              <a:t>STEP 9</a:t>
            </a:r>
          </a:p>
        </p:txBody>
      </p:sp>
      <p:sp>
        <p:nvSpPr>
          <p:cNvPr id="5" name="TextBox 4"/>
          <p:cNvSpPr txBox="1"/>
          <p:nvPr/>
        </p:nvSpPr>
        <p:spPr>
          <a:xfrm>
            <a:off x="182880" y="1188720"/>
            <a:ext cx="1828800" cy="3657600"/>
          </a:xfrm>
          <a:prstGeom prst="rect">
            <a:avLst/>
          </a:prstGeom>
          <a:noFill/>
        </p:spPr>
        <p:txBody>
          <a:bodyPr wrap="square" lIns="45720" rIns="45720">
            <a:spAutoFit/>
          </a:bodyPr>
          <a:lstStyle/>
          <a:p>
            <a:r>
              <a:rPr sz="1400" b="0">
                <a:solidFill>
                  <a:srgbClr val="A7A9AC"/>
                </a:solidFill>
              </a:rPr>
              <a:t>of 10</a:t>
            </a:r>
          </a:p>
        </p:txBody>
      </p:sp>
      <p:sp>
        <p:nvSpPr>
          <p:cNvPr id="6" name="TextBox 5"/>
          <p:cNvSpPr txBox="1"/>
          <p:nvPr/>
        </p:nvSpPr>
        <p:spPr>
          <a:xfrm>
            <a:off x="2377440" y="457200"/>
            <a:ext cx="9418320" cy="822960"/>
          </a:xfrm>
          <a:prstGeom prst="rect">
            <a:avLst/>
          </a:prstGeom>
          <a:noFill/>
        </p:spPr>
        <p:txBody>
          <a:bodyPr wrap="square" lIns="45720" rIns="45720">
            <a:spAutoFit/>
          </a:bodyPr>
          <a:lstStyle/>
          <a:p>
            <a:r>
              <a:rPr sz="3200" b="1">
                <a:solidFill>
                  <a:srgbClr val="3C3C3B"/>
                </a:solidFill>
              </a:rPr>
              <a:t>Monitoring &amp; backups</a:t>
            </a:r>
          </a:p>
        </p:txBody>
      </p:sp>
      <p:sp>
        <p:nvSpPr>
          <p:cNvPr id="7" name="Rectangle 6"/>
          <p:cNvSpPr/>
          <p:nvPr/>
        </p:nvSpPr>
        <p:spPr>
          <a:xfrm>
            <a:off x="2377440" y="1234440"/>
            <a:ext cx="1097280" cy="73152"/>
          </a:xfrm>
          <a:prstGeom prst="rect">
            <a:avLst/>
          </a:prstGeom>
          <a:solidFill>
            <a:srgbClr val="FD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77440" y="1463040"/>
            <a:ext cx="9418320" cy="365760"/>
          </a:xfrm>
          <a:prstGeom prst="rect">
            <a:avLst/>
          </a:prstGeom>
          <a:noFill/>
        </p:spPr>
        <p:txBody>
          <a:bodyPr wrap="square" lIns="45720" rIns="45720">
            <a:spAutoFit/>
          </a:bodyPr>
          <a:lstStyle/>
          <a:p>
            <a:r>
              <a:rPr sz="1200" b="1">
                <a:solidFill>
                  <a:srgbClr val="FDC800"/>
                </a:solidFill>
              </a:rPr>
              <a:t>WHAT</a:t>
            </a:r>
          </a:p>
        </p:txBody>
      </p:sp>
      <p:sp>
        <p:nvSpPr>
          <p:cNvPr id="9" name="TextBox 8"/>
          <p:cNvSpPr txBox="1"/>
          <p:nvPr/>
        </p:nvSpPr>
        <p:spPr>
          <a:xfrm>
            <a:off x="2377440" y="1828800"/>
            <a:ext cx="9418320" cy="1463040"/>
          </a:xfrm>
          <a:prstGeom prst="rect">
            <a:avLst/>
          </a:prstGeom>
          <a:noFill/>
        </p:spPr>
        <p:txBody>
          <a:bodyPr wrap="square" lIns="45720" rIns="45720">
            <a:spAutoFit/>
          </a:bodyPr>
          <a:lstStyle/>
          <a:p>
            <a:r>
              <a:rPr sz="1500" b="0">
                <a:solidFill>
                  <a:srgbClr val="3C3C3B"/>
                </a:solidFill>
              </a:rPr>
              <a:t>Confirm the deployment logs are accessible and you know how to read them. Set up a regular automated backup of the production Postgres database so you can recover from a bad deploy or data loss.</a:t>
            </a:r>
          </a:p>
        </p:txBody>
      </p:sp>
      <p:sp>
        <p:nvSpPr>
          <p:cNvPr id="10" name="TextBox 9"/>
          <p:cNvSpPr txBox="1"/>
          <p:nvPr/>
        </p:nvSpPr>
        <p:spPr>
          <a:xfrm>
            <a:off x="2377440" y="3291840"/>
            <a:ext cx="9418320" cy="365760"/>
          </a:xfrm>
          <a:prstGeom prst="rect">
            <a:avLst/>
          </a:prstGeom>
          <a:noFill/>
        </p:spPr>
        <p:txBody>
          <a:bodyPr wrap="square" lIns="45720" rIns="45720">
            <a:spAutoFit/>
          </a:bodyPr>
          <a:lstStyle/>
          <a:p>
            <a:r>
              <a:rPr sz="1200" b="1">
                <a:solidFill>
                  <a:srgbClr val="FDC800"/>
                </a:solidFill>
              </a:rPr>
              <a:t>WHY IT MATTERS</a:t>
            </a:r>
          </a:p>
        </p:txBody>
      </p:sp>
      <p:sp>
        <p:nvSpPr>
          <p:cNvPr id="11" name="TextBox 10"/>
          <p:cNvSpPr txBox="1"/>
          <p:nvPr/>
        </p:nvSpPr>
        <p:spPr>
          <a:xfrm>
            <a:off x="2377440" y="3657600"/>
            <a:ext cx="9418320" cy="1280160"/>
          </a:xfrm>
          <a:prstGeom prst="rect">
            <a:avLst/>
          </a:prstGeom>
          <a:noFill/>
        </p:spPr>
        <p:txBody>
          <a:bodyPr wrap="square" lIns="45720" rIns="45720">
            <a:spAutoFit/>
          </a:bodyPr>
          <a:lstStyle/>
          <a:p>
            <a:r>
              <a:rPr sz="1500" b="0">
                <a:solidFill>
                  <a:srgbClr val="3C3C3B"/>
                </a:solidFill>
              </a:rPr>
              <a:t>Things will break in production — what matters is how quickly you see it and how cleanly you can roll back.</a:t>
            </a:r>
          </a:p>
        </p:txBody>
      </p:sp>
      <p:sp>
        <p:nvSpPr>
          <p:cNvPr id="12" name="TextBox 11"/>
          <p:cNvSpPr txBox="1"/>
          <p:nvPr/>
        </p:nvSpPr>
        <p:spPr>
          <a:xfrm>
            <a:off x="2377440" y="5029200"/>
            <a:ext cx="9418320" cy="365760"/>
          </a:xfrm>
          <a:prstGeom prst="rect">
            <a:avLst/>
          </a:prstGeom>
          <a:noFill/>
        </p:spPr>
        <p:txBody>
          <a:bodyPr wrap="square" lIns="45720" rIns="45720">
            <a:spAutoFit/>
          </a:bodyPr>
          <a:lstStyle/>
          <a:p>
            <a:r>
              <a:rPr sz="1200" b="1">
                <a:solidFill>
                  <a:srgbClr val="FDC800"/>
                </a:solidFill>
              </a:rPr>
              <a:t>DONE LOOKS LIKE</a:t>
            </a:r>
          </a:p>
        </p:txBody>
      </p:sp>
      <p:sp>
        <p:nvSpPr>
          <p:cNvPr id="13" name="TextBox 12"/>
          <p:cNvSpPr txBox="1"/>
          <p:nvPr/>
        </p:nvSpPr>
        <p:spPr>
          <a:xfrm>
            <a:off x="2377440" y="5394960"/>
            <a:ext cx="9418320" cy="1280160"/>
          </a:xfrm>
          <a:prstGeom prst="rect">
            <a:avLst/>
          </a:prstGeom>
          <a:noFill/>
        </p:spPr>
        <p:txBody>
          <a:bodyPr wrap="square" lIns="45720" rIns="45720">
            <a:spAutoFit/>
          </a:bodyPr>
          <a:lstStyle/>
          <a:p>
            <a:r>
              <a:rPr sz="1500" b="0">
                <a:solidFill>
                  <a:srgbClr val="3C3C3B"/>
                </a:solidFill>
              </a:rPr>
              <a:t>Logs are reachable in two clicks. A nightly database backup exists and a test restore has been done.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0" cy="6858000"/>
          </a:xfrm>
          <a:prstGeom prst="rect">
            <a:avLst/>
          </a:prstGeom>
          <a:solidFill>
            <a:srgbClr val="3C3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 y="548640"/>
            <a:ext cx="1828800" cy="548640"/>
          </a:xfrm>
          <a:prstGeom prst="rect">
            <a:avLst/>
          </a:prstGeom>
          <a:noFill/>
        </p:spPr>
        <p:txBody>
          <a:bodyPr wrap="square" lIns="45720" rIns="45720">
            <a:spAutoFit/>
          </a:bodyPr>
          <a:lstStyle/>
          <a:p>
            <a:r>
              <a:rPr sz="1600" b="1">
                <a:solidFill>
                  <a:srgbClr val="FDC800"/>
                </a:solidFill>
              </a:rPr>
              <a:t>STEP 10</a:t>
            </a:r>
          </a:p>
        </p:txBody>
      </p:sp>
      <p:sp>
        <p:nvSpPr>
          <p:cNvPr id="5" name="TextBox 4"/>
          <p:cNvSpPr txBox="1"/>
          <p:nvPr/>
        </p:nvSpPr>
        <p:spPr>
          <a:xfrm>
            <a:off x="182880" y="1188720"/>
            <a:ext cx="1828800" cy="3657600"/>
          </a:xfrm>
          <a:prstGeom prst="rect">
            <a:avLst/>
          </a:prstGeom>
          <a:noFill/>
        </p:spPr>
        <p:txBody>
          <a:bodyPr wrap="square" lIns="45720" rIns="45720">
            <a:spAutoFit/>
          </a:bodyPr>
          <a:lstStyle/>
          <a:p>
            <a:r>
              <a:rPr sz="1400" b="0">
                <a:solidFill>
                  <a:srgbClr val="A7A9AC"/>
                </a:solidFill>
              </a:rPr>
              <a:t>of 10</a:t>
            </a:r>
          </a:p>
        </p:txBody>
      </p:sp>
      <p:sp>
        <p:nvSpPr>
          <p:cNvPr id="6" name="TextBox 5"/>
          <p:cNvSpPr txBox="1"/>
          <p:nvPr/>
        </p:nvSpPr>
        <p:spPr>
          <a:xfrm>
            <a:off x="2377440" y="457200"/>
            <a:ext cx="9418320" cy="822960"/>
          </a:xfrm>
          <a:prstGeom prst="rect">
            <a:avLst/>
          </a:prstGeom>
          <a:noFill/>
        </p:spPr>
        <p:txBody>
          <a:bodyPr wrap="square" lIns="45720" rIns="45720">
            <a:spAutoFit/>
          </a:bodyPr>
          <a:lstStyle/>
          <a:p>
            <a:r>
              <a:rPr sz="3200" b="1">
                <a:solidFill>
                  <a:srgbClr val="3C3C3B"/>
                </a:solidFill>
              </a:rPr>
              <a:t>Go-live announcement</a:t>
            </a:r>
          </a:p>
        </p:txBody>
      </p:sp>
      <p:sp>
        <p:nvSpPr>
          <p:cNvPr id="7" name="Rectangle 6"/>
          <p:cNvSpPr/>
          <p:nvPr/>
        </p:nvSpPr>
        <p:spPr>
          <a:xfrm>
            <a:off x="2377440" y="1234440"/>
            <a:ext cx="1097280" cy="73152"/>
          </a:xfrm>
          <a:prstGeom prst="rect">
            <a:avLst/>
          </a:prstGeom>
          <a:solidFill>
            <a:srgbClr val="FD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377440" y="1463040"/>
            <a:ext cx="9418320" cy="365760"/>
          </a:xfrm>
          <a:prstGeom prst="rect">
            <a:avLst/>
          </a:prstGeom>
          <a:noFill/>
        </p:spPr>
        <p:txBody>
          <a:bodyPr wrap="square" lIns="45720" rIns="45720">
            <a:spAutoFit/>
          </a:bodyPr>
          <a:lstStyle/>
          <a:p>
            <a:r>
              <a:rPr sz="1200" b="1">
                <a:solidFill>
                  <a:srgbClr val="FDC800"/>
                </a:solidFill>
              </a:rPr>
              <a:t>WHAT</a:t>
            </a:r>
          </a:p>
        </p:txBody>
      </p:sp>
      <p:sp>
        <p:nvSpPr>
          <p:cNvPr id="9" name="TextBox 8"/>
          <p:cNvSpPr txBox="1"/>
          <p:nvPr/>
        </p:nvSpPr>
        <p:spPr>
          <a:xfrm>
            <a:off x="2377440" y="1828800"/>
            <a:ext cx="9418320" cy="1463040"/>
          </a:xfrm>
          <a:prstGeom prst="rect">
            <a:avLst/>
          </a:prstGeom>
          <a:noFill/>
        </p:spPr>
        <p:txBody>
          <a:bodyPr wrap="square" lIns="45720" rIns="45720">
            <a:spAutoFit/>
          </a:bodyPr>
          <a:lstStyle/>
          <a:p>
            <a:r>
              <a:rPr sz="1500" b="0">
                <a:solidFill>
                  <a:srgbClr val="3C3C3B"/>
                </a:solidFill>
              </a:rPr>
              <a:t>Send the launch email to Maverick customers and update the Maverick website with a link to the loyalty portal. Coordinate with marketing on timing and messaging.</a:t>
            </a:r>
          </a:p>
        </p:txBody>
      </p:sp>
      <p:sp>
        <p:nvSpPr>
          <p:cNvPr id="10" name="TextBox 9"/>
          <p:cNvSpPr txBox="1"/>
          <p:nvPr/>
        </p:nvSpPr>
        <p:spPr>
          <a:xfrm>
            <a:off x="2377440" y="3291840"/>
            <a:ext cx="9418320" cy="365760"/>
          </a:xfrm>
          <a:prstGeom prst="rect">
            <a:avLst/>
          </a:prstGeom>
          <a:noFill/>
        </p:spPr>
        <p:txBody>
          <a:bodyPr wrap="square" lIns="45720" rIns="45720">
            <a:spAutoFit/>
          </a:bodyPr>
          <a:lstStyle/>
          <a:p>
            <a:r>
              <a:rPr sz="1200" b="1">
                <a:solidFill>
                  <a:srgbClr val="FDC800"/>
                </a:solidFill>
              </a:rPr>
              <a:t>WHY IT MATTERS</a:t>
            </a:r>
          </a:p>
        </p:txBody>
      </p:sp>
      <p:sp>
        <p:nvSpPr>
          <p:cNvPr id="11" name="TextBox 10"/>
          <p:cNvSpPr txBox="1"/>
          <p:nvPr/>
        </p:nvSpPr>
        <p:spPr>
          <a:xfrm>
            <a:off x="2377440" y="3657600"/>
            <a:ext cx="9418320" cy="1280160"/>
          </a:xfrm>
          <a:prstGeom prst="rect">
            <a:avLst/>
          </a:prstGeom>
          <a:noFill/>
        </p:spPr>
        <p:txBody>
          <a:bodyPr wrap="square" lIns="45720" rIns="45720">
            <a:spAutoFit/>
          </a:bodyPr>
          <a:lstStyle/>
          <a:p>
            <a:r>
              <a:rPr sz="1500" b="0">
                <a:solidFill>
                  <a:srgbClr val="3C3C3B"/>
                </a:solidFill>
              </a:rPr>
              <a:t>A launch nobody knows about is the same as no launch.</a:t>
            </a:r>
          </a:p>
        </p:txBody>
      </p:sp>
      <p:sp>
        <p:nvSpPr>
          <p:cNvPr id="12" name="TextBox 11"/>
          <p:cNvSpPr txBox="1"/>
          <p:nvPr/>
        </p:nvSpPr>
        <p:spPr>
          <a:xfrm>
            <a:off x="2377440" y="5029200"/>
            <a:ext cx="9418320" cy="365760"/>
          </a:xfrm>
          <a:prstGeom prst="rect">
            <a:avLst/>
          </a:prstGeom>
          <a:noFill/>
        </p:spPr>
        <p:txBody>
          <a:bodyPr wrap="square" lIns="45720" rIns="45720">
            <a:spAutoFit/>
          </a:bodyPr>
          <a:lstStyle/>
          <a:p>
            <a:r>
              <a:rPr sz="1200" b="1">
                <a:solidFill>
                  <a:srgbClr val="FDC800"/>
                </a:solidFill>
              </a:rPr>
              <a:t>DONE LOOKS LIKE</a:t>
            </a:r>
          </a:p>
        </p:txBody>
      </p:sp>
      <p:sp>
        <p:nvSpPr>
          <p:cNvPr id="13" name="TextBox 12"/>
          <p:cNvSpPr txBox="1"/>
          <p:nvPr/>
        </p:nvSpPr>
        <p:spPr>
          <a:xfrm>
            <a:off x="2377440" y="5394960"/>
            <a:ext cx="9418320" cy="1280160"/>
          </a:xfrm>
          <a:prstGeom prst="rect">
            <a:avLst/>
          </a:prstGeom>
          <a:noFill/>
        </p:spPr>
        <p:txBody>
          <a:bodyPr wrap="square" lIns="45720" rIns="45720">
            <a:spAutoFit/>
          </a:bodyPr>
          <a:lstStyle/>
          <a:p>
            <a:r>
              <a:rPr sz="1500" b="0">
                <a:solidFill>
                  <a:srgbClr val="3C3C3B"/>
                </a:solidFill>
              </a:rPr>
              <a:t>The announcement is sent. The Maverick website links to the loyalty portal. Sign-ups start arriving.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C3C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2560320"/>
            <a:ext cx="228600" cy="1645920"/>
          </a:xfrm>
          <a:prstGeom prst="rect">
            <a:avLst/>
          </a:prstGeom>
          <a:solidFill>
            <a:srgbClr val="FDC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468880"/>
            <a:ext cx="10058400" cy="914400"/>
          </a:xfrm>
          <a:prstGeom prst="rect">
            <a:avLst/>
          </a:prstGeom>
          <a:noFill/>
        </p:spPr>
        <p:txBody>
          <a:bodyPr wrap="square" lIns="45720" rIns="45720">
            <a:spAutoFit/>
          </a:bodyPr>
          <a:lstStyle/>
          <a:p>
            <a:r>
              <a:rPr sz="4400" b="1">
                <a:solidFill>
                  <a:srgbClr val="FFFFFF"/>
                </a:solidFill>
              </a:rPr>
              <a:t>Ready when you are.</a:t>
            </a:r>
          </a:p>
        </p:txBody>
      </p:sp>
      <p:sp>
        <p:nvSpPr>
          <p:cNvPr id="5" name="TextBox 4"/>
          <p:cNvSpPr txBox="1"/>
          <p:nvPr/>
        </p:nvSpPr>
        <p:spPr>
          <a:xfrm>
            <a:off x="914400" y="3383280"/>
            <a:ext cx="10058400" cy="640080"/>
          </a:xfrm>
          <a:prstGeom prst="rect">
            <a:avLst/>
          </a:prstGeom>
          <a:noFill/>
        </p:spPr>
        <p:txBody>
          <a:bodyPr wrap="square" lIns="45720" rIns="45720">
            <a:spAutoFit/>
          </a:bodyPr>
          <a:lstStyle/>
          <a:p>
            <a:r>
              <a:rPr sz="2200" b="0">
                <a:solidFill>
                  <a:srgbClr val="FDC800"/>
                </a:solidFill>
              </a:rPr>
              <a:t>Pick a step and we'll start.</a:t>
            </a:r>
          </a:p>
        </p:txBody>
      </p:sp>
      <p:sp>
        <p:nvSpPr>
          <p:cNvPr id="6" name="TextBox 5"/>
          <p:cNvSpPr txBox="1"/>
          <p:nvPr/>
        </p:nvSpPr>
        <p:spPr>
          <a:xfrm>
            <a:off x="914400" y="4206240"/>
            <a:ext cx="10058400" cy="457200"/>
          </a:xfrm>
          <a:prstGeom prst="rect">
            <a:avLst/>
          </a:prstGeom>
          <a:noFill/>
        </p:spPr>
        <p:txBody>
          <a:bodyPr wrap="square" lIns="45720" rIns="45720">
            <a:spAutoFit/>
          </a:bodyPr>
          <a:lstStyle/>
          <a:p>
            <a:r>
              <a:rPr sz="1400" b="0">
                <a:solidFill>
                  <a:srgbClr val="A7A9AC"/>
                </a:solidFill>
              </a:rPr>
              <a:t>Recommended order: 1 → 2 → 7 → 4 → 8 → 3 → 5 → 6 → 9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