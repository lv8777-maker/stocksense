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 LOYALTY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1274552" cy="365760"/>
          </a:xfrm>
          <a:prstGeom prst="rect">
            <a:avLst/>
          </a:prstGeom>
          <a:solidFill>
            <a:srgbClr val="FDC8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JOURNEY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112745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Tap to Lifetime Reward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Maverick Telecom customer discovers, joins, earns, and redeems through the loyalty programme.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 LOYALTY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at a Glance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743200" cy="45720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from first contact to long-term loyalty.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9FAFB"/>
          </a:solidFill>
          <a:ln w="25400">
            <a:solidFill>
              <a:srgbClr val="FDC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D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3246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50592" y="274320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9FAFB"/>
          </a:solidFill>
          <a:ln w="25400">
            <a:solidFill>
              <a:srgbClr val="FDC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D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50592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50592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phone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33672" y="3246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398264" y="274320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9FAFB"/>
          </a:solidFill>
          <a:ln w="25400">
            <a:solidFill>
              <a:srgbClr val="FDC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98264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D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398264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98264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pts + Starter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1344" y="3246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45936" y="274320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9FAFB"/>
          </a:solidFill>
          <a:ln w="25400">
            <a:solidFill>
              <a:srgbClr val="FDC8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D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345936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45936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receipts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29016" y="3246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293608" y="274320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9FAFB"/>
          </a:solidFill>
          <a:ln w="25400">
            <a:solidFill>
              <a:srgbClr val="FDC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D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293608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93608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tiers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76688" y="32461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241280" y="274320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9FAFB"/>
          </a:solidFill>
          <a:ln w="25400">
            <a:solidFill>
              <a:srgbClr val="FDC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4128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D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0241280" y="3337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24128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rewards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846320"/>
            <a:ext cx="11274552" cy="1188720"/>
          </a:xfrm>
          <a:prstGeom prst="rect">
            <a:avLst/>
          </a:prstGeom>
          <a:solidFill>
            <a:srgbClr val="FEF3C7"/>
          </a:solidFill>
          <a:ln w="38100">
            <a:solidFill>
              <a:srgbClr val="FDC8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937760"/>
            <a:ext cx="109087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 is designed so a new client can earn their first reward within roughly one month of normal airtime activity.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 LOYALTY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"/>
            <a:ext cx="640080" cy="640080"/>
          </a:xfrm>
          <a:prstGeom prst="ellipse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 — landing page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client sees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 + MTN co-branded header on every page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loyalty programme overview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call-to-action: Sign up with email or phone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Promise: earn points on every airtime, plan, and accessory purchase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5330952" cy="3840480"/>
          </a:xfrm>
          <a:prstGeom prst="roundRect">
            <a:avLst>
              <a:gd name="adj" fmla="val 2381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D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visitor → registered member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31089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is the enemy. The landing page exists to answer one question — "what do I get?" — and route the client to sign-up in two clicks.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4663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clicks "Get Started"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 LOYALTY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"/>
            <a:ext cx="640080" cy="640080"/>
          </a:xfrm>
          <a:prstGeom prst="ellipse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paths, one outcome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9FAFB"/>
          </a:solidFill>
          <a:ln w="25400">
            <a:solidFill>
              <a:srgbClr val="FDC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Sign-Up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 (bcrypt hashed, 10 rounds)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plan: Prepaid, Contract, or SME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against brute force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CSRF-protected submission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5352" y="19202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9FAFB"/>
          </a:solidFill>
          <a:ln w="25400">
            <a:solidFill>
              <a:srgbClr val="FDC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Phone Sign-Up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28232" y="260604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 +27 format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via Replit OIDC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plan: Prepaid, Contract, or SME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stored securely (HTTP-only cookie)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 LOYALTY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"/>
            <a:ext cx="640080" cy="640080"/>
          </a:xfrm>
          <a:prstGeom prst="ellipse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client starts on equal footing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3C3C3B"/>
          </a:solidFill>
          <a:ln w="12700">
            <a:solidFill>
              <a:srgbClr val="3C3C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945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D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bonus points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~R25 toward first reward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45352" y="201168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22860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300" kern="0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45352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assignment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5352" y="32918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progression is earned, not bought.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move clients up the ladder.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11274552" cy="1463040"/>
          </a:xfrm>
          <a:prstGeom prst="rect">
            <a:avLst/>
          </a:prstGeom>
          <a:solidFill>
            <a:srgbClr val="FEF3C7"/>
          </a:solidFill>
          <a:ln w="38100">
            <a:solidFill>
              <a:srgbClr val="FDC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9834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choice (Prepaid/Contract/SME) no longer locks tier. Every client — regardless of spend — has the same chance to climb. This rewards engagement, not legacy spend.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 LOYALTY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"/>
            <a:ext cx="640080" cy="640080"/>
          </a:xfrm>
          <a:prstGeom prst="ellipse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receipt → points appear automatically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Tesseract.js OCR — no manual entry, no waiting for staff.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C3C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C3C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Points Are Earned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C3C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📱  Airtime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pts per R1 spent (min R100)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R250 → 500 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🎧  Accessories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Tiered: R500+ = 100 / R1k+ = 250 / R2k+ = 500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R1 200 cable → 250 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📶  Plans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detects plan name on receipt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Top-tier plan → 500 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5212080"/>
            <a:ext cx="11274552" cy="822960"/>
          </a:xfrm>
          <a:prstGeom prst="rect">
            <a:avLst/>
          </a:prstGeom>
          <a:solidFill>
            <a:srgbClr val="3C3C3B"/>
          </a:solidFill>
          <a:ln w="12700">
            <a:solidFill>
              <a:srgbClr val="3C3C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521208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taps from photo to points balance update — and a full transaction history for the client to review anytime.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 LOYALTY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"/>
            <a:ext cx="640080" cy="640080"/>
          </a:xfrm>
          <a:prstGeom prst="ellipse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the four-tier ladder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9FAFB"/>
          </a:solidFill>
          <a:ln w="38100">
            <a:solidFill>
              <a:srgbClr val="9C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03120"/>
            <a:ext cx="2606040" cy="4572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03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02920" y="3794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2062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here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210312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9FAFB"/>
          </a:solidFill>
          <a:ln w="38100">
            <a:solidFill>
              <a:srgbClr val="60A5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103120"/>
            <a:ext cx="2606040" cy="4572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103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27432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291840" y="3794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habit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0" y="42062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regularly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80760" y="210312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9FAFB"/>
          </a:solidFill>
          <a:ln w="381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2103120"/>
            <a:ext cx="26060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2103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80760" y="27432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080760" y="3794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client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80760" y="42062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rewards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869680" y="210312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9FAFB"/>
          </a:solidFill>
          <a:ln w="381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69680" y="2103120"/>
            <a:ext cx="260604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2103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869680" y="27432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8869680" y="3794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advocate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869680" y="42062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perks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11274552" cy="640080"/>
          </a:xfrm>
          <a:prstGeom prst="rect">
            <a:avLst/>
          </a:prstGeom>
          <a:solidFill>
            <a:srgbClr val="FEF3C7"/>
          </a:solidFill>
          <a:ln w="38100">
            <a:solidFill>
              <a:srgbClr val="FDC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39496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is earned through scanned receipts — visible progress every time the client engages with the app.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 LOYALTY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65760"/>
            <a:ext cx="640080" cy="640080"/>
          </a:xfrm>
          <a:prstGeom prst="ellipse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points into something tangible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catalogue spans four categories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14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🍔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Drinks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– 400 pts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Starbucks, Nando's vouchers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73552" y="237744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2514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🎒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273552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73552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– 800 pts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73552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Earbuds, power bank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9904" y="237744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2514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089904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89904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– 2 000 pts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89904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day, weekend away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06256" y="2377440"/>
            <a:ext cx="2743200" cy="201168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06256" y="2514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8906256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906256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1 200 pts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06256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Airtime credit, % off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11274552" cy="1371600"/>
          </a:xfrm>
          <a:prstGeom prst="rect">
            <a:avLst/>
          </a:prstGeom>
          <a:solidFill>
            <a:srgbClr val="3C3C3B"/>
          </a:solidFill>
          <a:ln w="12700">
            <a:solidFill>
              <a:srgbClr val="3C3C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D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REDEMPTION FLOW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5074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catalogue → tap reward → confirm → points deducted instantly → confirmation in transaction history.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 LOYALTY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 — Lifetime Engagement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743200" cy="45720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client has earned and redeemed once, the programme keeps them coming back.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23444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offers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423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by tier, plan, and history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187452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20116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02920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campaigns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2423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points weekends, category boosts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87452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0116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82396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milestones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23960" y="2423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progress drives next purchase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290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23444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expiry alerts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3840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nudge to redeem before they lapse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51960" y="329184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34290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🎂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02920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bonuses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0" y="3840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rewards on key dates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329184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34290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82396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history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823960" y="3840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earned and spent is visible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5029200"/>
            <a:ext cx="11274552" cy="1005840"/>
          </a:xfrm>
          <a:prstGeom prst="rect">
            <a:avLst/>
          </a:prstGeom>
          <a:solidFill>
            <a:srgbClr val="FDC800"/>
          </a:solidFill>
          <a:ln w="12700">
            <a:solidFill>
              <a:srgbClr val="FDC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07492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3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journey — discover, sign up, welcomed, earn, progress, redeem — turns a one-time customer into a long-term advocate.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2026-05-08T09:08:54Z</dcterms:created>
  <dcterms:modified xsi:type="dcterms:W3CDTF">2026-05-08T09:08:54Z</dcterms:modified>
</cp:coreProperties>
</file>