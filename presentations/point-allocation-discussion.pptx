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DC800"/>
          </a:solidFill>
          <a:ln w="12700">
            <a:solidFill>
              <a:srgbClr val="FDC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MAVERICK LOYALTY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11274552" cy="365760"/>
          </a:xfrm>
          <a:prstGeom prst="rect">
            <a:avLst/>
          </a:prstGeom>
          <a:solidFill>
            <a:srgbClr val="FDC8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1127455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Allocation &amp;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Redemption Mismatch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371600" y="4754880"/>
            <a:ext cx="9445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current earning rate prevents customers from redeeming a single cup of coffee.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DC800"/>
          </a:solidFill>
          <a:ln w="12700">
            <a:solidFill>
              <a:srgbClr val="FDC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MAVERICK LOYALTY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Customers Currently Earn Points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2743200" cy="45720"/>
          </a:xfrm>
          <a:prstGeom prst="rect">
            <a:avLst/>
          </a:prstGeom>
          <a:solidFill>
            <a:srgbClr val="FDC800"/>
          </a:solidFill>
          <a:ln w="12700">
            <a:solidFill>
              <a:srgbClr val="FDC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Sign-up bonus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points — flat, every new client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Airtime purchase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point per R1 spent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spend: R100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detected on receipt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42519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plans: 100 pts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plans: up to 500 pts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45352" y="1234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 (tiered)</a:t>
            </a:r>
            <a:endParaRPr lang="en-US" sz="2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91640"/>
          <a:ext cx="54864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C3C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8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C3C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8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R500 – R999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R1 000 – R1 999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R2 000+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DC800"/>
          </a:solidFill>
          <a:ln w="12700">
            <a:solidFill>
              <a:srgbClr val="FDC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MAVERICK LOYALTY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A Cup of Coffee Costs 5 294 Points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2743200" cy="45720"/>
          </a:xfrm>
          <a:prstGeom prst="rect">
            <a:avLst/>
          </a:prstGeom>
          <a:solidFill>
            <a:srgbClr val="FDC800"/>
          </a:solidFill>
          <a:ln w="12700">
            <a:solidFill>
              <a:srgbClr val="FDC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cheapest reward in the catalogue — a Cappuccino (~R45) — is priced at 5 294 points using the R ÷ 0.0085 conversion.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customer must spend to earn one cup: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14600"/>
          <a:ext cx="11274552" cy="914400"/>
        </p:xfrm>
        <a:graphic>
          <a:graphicData uri="http://schemas.openxmlformats.org/drawingml/2006/table">
            <a:tbl>
              <a:tblPr/>
              <a:tblGrid>
                <a:gridCol w="5637276"/>
                <a:gridCol w="563727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C3C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8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C3C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to earn 5 294 pts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8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Airtime (1 pt / R1)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R5 294 in airtime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Top-tier plan detection (500 pts)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 plan purchases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Top-tier accessory receipts (R2 000+ = 500 pts)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 receipts of R2 000+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4937760"/>
            <a:ext cx="11274552" cy="1097280"/>
          </a:xfrm>
          <a:prstGeom prst="rect">
            <a:avLst/>
          </a:prstGeom>
          <a:solidFill>
            <a:srgbClr val="FEF3C7"/>
          </a:solidFill>
          <a:ln w="38100">
            <a:solidFill>
              <a:srgbClr val="FDC8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5029200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500-point sign-up bonus, a new client still needs to spend roughly R4 800 in airtime just to redeem a single cappuccino.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DC800"/>
          </a:solidFill>
          <a:ln w="12700">
            <a:solidFill>
              <a:srgbClr val="FDC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MAVERICK LOYALTY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828800" cy="45720"/>
          </a:xfrm>
          <a:prstGeom prst="rect">
            <a:avLst/>
          </a:prstGeom>
          <a:solidFill>
            <a:srgbClr val="FDC800"/>
          </a:solidFill>
          <a:ln w="12700">
            <a:solidFill>
              <a:srgbClr val="FDC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the airtime earning rate to bring rewards within reach without devaluing the catalogue.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5029200" cy="2377440"/>
          </a:xfrm>
          <a:prstGeom prst="rect">
            <a:avLst/>
          </a:prstGeom>
          <a:solidFill>
            <a:srgbClr val="F9FAFB"/>
          </a:solidFill>
          <a:ln w="254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2860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914400" y="3291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PTS PER R1 AIRTIME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37033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reward reachable after ~R530 in airtime spend.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45352" y="2103120"/>
            <a:ext cx="5029200" cy="2377440"/>
          </a:xfrm>
          <a:prstGeom prst="rect">
            <a:avLst/>
          </a:prstGeom>
          <a:solidFill>
            <a:srgbClr val="F9FAFB"/>
          </a:solidFill>
          <a:ln w="254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45352" y="22860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20×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6245352" y="3291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 PER R1 AIRTIME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28232" y="37033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reward reachable after ~R250 in airtime spend.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846320"/>
            <a:ext cx="11274552" cy="1280160"/>
          </a:xfrm>
          <a:prstGeom prst="rect">
            <a:avLst/>
          </a:prstGeom>
          <a:solidFill>
            <a:srgbClr val="3C3C3B"/>
          </a:solidFill>
          <a:ln w="12700">
            <a:solidFill>
              <a:srgbClr val="3C3C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937760"/>
            <a:ext cx="10725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needed: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new earning rate (suggested </a:t>
            </a:r>
            <a:pPr indent="0" marL="0">
              <a:buNone/>
            </a:pPr>
            <a:r>
              <a:rPr lang="en-US" sz="1600" b="1" dirty="0">
                <a:solidFill>
                  <a:srgbClr val="FD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 pts / R1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so the loyalty programme actually rewards everyday customer behaviour.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2026-05-08T08:33:17Z</dcterms:created>
  <dcterms:modified xsi:type="dcterms:W3CDTF">2026-05-08T08:33:17Z</dcterms:modified>
</cp:coreProperties>
</file>